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588"/>
            <a:ext cx="12181078" cy="8655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2860" y="273761"/>
            <a:ext cx="6660515" cy="589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060" y="1243711"/>
            <a:ext cx="9427210" cy="3857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VidyasagarM2004/ai-enabled-water-well-predictor.git" TargetMode="External"/><Relationship Id="rId3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8338" y="82042"/>
            <a:ext cx="2690495" cy="65976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6615" marR="5080" indent="-844550">
              <a:lnSpc>
                <a:spcPct val="115599"/>
              </a:lnSpc>
              <a:spcBef>
                <a:spcPts val="100"/>
              </a:spcBef>
            </a:pPr>
            <a:r>
              <a:rPr dirty="0" sz="1800" spc="-35"/>
              <a:t>CSE7101-</a:t>
            </a:r>
            <a:r>
              <a:rPr dirty="0" sz="1800" spc="-25"/>
              <a:t>CapstoneProject </a:t>
            </a:r>
            <a:r>
              <a:rPr dirty="0" sz="1800" spc="-20"/>
              <a:t>Review-</a:t>
            </a:r>
            <a:r>
              <a:rPr dirty="0" sz="1800" spc="-50"/>
              <a:t>2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871524" y="1356740"/>
            <a:ext cx="7634605" cy="10013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80995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Verdana"/>
                <a:cs typeface="Verdana"/>
              </a:rPr>
              <a:t>Al-</a:t>
            </a:r>
            <a:r>
              <a:rPr dirty="0" sz="2400">
                <a:latin typeface="Verdana"/>
                <a:cs typeface="Verdana"/>
              </a:rPr>
              <a:t>enabled</a:t>
            </a:r>
            <a:r>
              <a:rPr dirty="0" sz="2400" spc="-13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water</a:t>
            </a:r>
            <a:r>
              <a:rPr dirty="0" sz="2400" spc="-15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well</a:t>
            </a:r>
            <a:r>
              <a:rPr dirty="0" sz="2400" spc="-145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predictor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dirty="0" sz="1800" spc="-10" b="1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dirty="0" sz="1800" spc="-5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7365D"/>
                </a:solidFill>
                <a:latin typeface="Cambria"/>
                <a:cs typeface="Cambria"/>
              </a:rPr>
              <a:t>Number:</a:t>
            </a:r>
            <a:r>
              <a:rPr dirty="0" sz="1800" spc="-9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7365D"/>
                </a:solidFill>
                <a:latin typeface="Cambria"/>
                <a:cs typeface="Cambria"/>
              </a:rPr>
              <a:t>CSE_172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74966" y="2362961"/>
            <a:ext cx="3613785" cy="1153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dirty="0" sz="1200" b="1" i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0" b="1" i="1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dirty="0" sz="1200" spc="-30" b="1" i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0" b="1" i="1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dirty="0" sz="1200" spc="-10" b="1" i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5" b="1" i="1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20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MR.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Vinayak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Raju</a:t>
            </a:r>
            <a:r>
              <a:rPr dirty="0" sz="1600" spc="-100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Kage</a:t>
            </a:r>
            <a:endParaRPr sz="1600">
              <a:latin typeface="Arial"/>
              <a:cs typeface="Arial"/>
            </a:endParaRPr>
          </a:p>
          <a:p>
            <a:pPr marL="30480" marR="5080" indent="48260">
              <a:lnSpc>
                <a:spcPts val="1730"/>
              </a:lnSpc>
              <a:spcBef>
                <a:spcPts val="90"/>
              </a:spcBef>
            </a:pPr>
            <a:r>
              <a:rPr dirty="0" sz="1200" spc="-20" b="1">
                <a:solidFill>
                  <a:srgbClr val="17365D"/>
                </a:solidFill>
                <a:latin typeface="Cambria"/>
                <a:cs typeface="Cambria"/>
              </a:rPr>
              <a:t>Assistant</a:t>
            </a:r>
            <a:r>
              <a:rPr dirty="0" sz="1200" spc="-4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r>
              <a:rPr dirty="0" sz="1200" spc="-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dirty="0" sz="1200" spc="1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dirty="0" sz="1200" spc="-1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17365D"/>
                </a:solidFill>
                <a:latin typeface="Cambria"/>
                <a:cs typeface="Cambria"/>
              </a:rPr>
              <a:t>Computer</a:t>
            </a:r>
            <a:r>
              <a:rPr dirty="0" sz="120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17365D"/>
                </a:solidFill>
                <a:latin typeface="Cambria"/>
                <a:cs typeface="Cambria"/>
              </a:rPr>
              <a:t>Science</a:t>
            </a:r>
            <a:r>
              <a:rPr dirty="0" sz="1200" spc="1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17365D"/>
                </a:solidFill>
                <a:latin typeface="Cambria"/>
                <a:cs typeface="Cambria"/>
              </a:rPr>
              <a:t>and </a:t>
            </a:r>
            <a:r>
              <a:rPr dirty="0" sz="1200" spc="-10" b="1">
                <a:solidFill>
                  <a:srgbClr val="17365D"/>
                </a:solidFill>
                <a:latin typeface="Cambria"/>
                <a:cs typeface="Cambria"/>
              </a:rPr>
              <a:t>Engineering</a:t>
            </a:r>
            <a:r>
              <a:rPr dirty="0" sz="1200" spc="7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17365D"/>
                </a:solidFill>
                <a:latin typeface="Cambria"/>
                <a:cs typeface="Cambria"/>
              </a:rPr>
              <a:t>Presidency</a:t>
            </a:r>
            <a:r>
              <a:rPr dirty="0" sz="1200" spc="-3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-12700" y="4582795"/>
            <a:ext cx="7409180" cy="135826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1334135">
              <a:lnSpc>
                <a:spcPts val="2110"/>
              </a:lnSpc>
              <a:spcBef>
                <a:spcPts val="210"/>
              </a:spcBef>
              <a:tabLst>
                <a:tab pos="1414780" algn="l"/>
              </a:tabLst>
            </a:pPr>
            <a:r>
              <a:rPr dirty="0" sz="1800" b="1">
                <a:latin typeface="Cambria"/>
                <a:cs typeface="Cambria"/>
              </a:rPr>
              <a:t>Name</a:t>
            </a:r>
            <a:r>
              <a:rPr dirty="0" sz="1800" spc="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of</a:t>
            </a:r>
            <a:r>
              <a:rPr dirty="0" sz="1800" spc="-15" b="1">
                <a:latin typeface="Cambria"/>
                <a:cs typeface="Cambria"/>
              </a:rPr>
              <a:t> </a:t>
            </a:r>
            <a:r>
              <a:rPr dirty="0" sz="1800" spc="-25" b="1">
                <a:latin typeface="Cambria"/>
                <a:cs typeface="Cambria"/>
              </a:rPr>
              <a:t>the</a:t>
            </a:r>
            <a:r>
              <a:rPr dirty="0" sz="1800" b="1">
                <a:latin typeface="Cambria"/>
                <a:cs typeface="Cambria"/>
              </a:rPr>
              <a:t>	</a:t>
            </a:r>
            <a:r>
              <a:rPr dirty="0" sz="1800" spc="-10" b="1">
                <a:latin typeface="Cambria"/>
                <a:cs typeface="Cambria"/>
              </a:rPr>
              <a:t>program: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spc="-20" b="1">
                <a:latin typeface="Cambria"/>
                <a:cs typeface="Cambria"/>
              </a:rPr>
              <a:t>Computer</a:t>
            </a:r>
            <a:r>
              <a:rPr dirty="0" sz="1800" spc="-55" b="1">
                <a:latin typeface="Cambria"/>
                <a:cs typeface="Cambria"/>
              </a:rPr>
              <a:t> </a:t>
            </a:r>
            <a:r>
              <a:rPr dirty="0" sz="1800" spc="-20" b="1">
                <a:latin typeface="Cambria"/>
                <a:cs typeface="Cambria"/>
              </a:rPr>
              <a:t>Science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spc="-20" b="1">
                <a:latin typeface="Cambria"/>
                <a:cs typeface="Cambria"/>
              </a:rPr>
              <a:t>And</a:t>
            </a:r>
            <a:r>
              <a:rPr dirty="0" sz="1800" spc="-7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Engineering </a:t>
            </a:r>
            <a:r>
              <a:rPr dirty="0" sz="1800" b="1">
                <a:latin typeface="Cambria"/>
                <a:cs typeface="Cambria"/>
              </a:rPr>
              <a:t>Name</a:t>
            </a:r>
            <a:r>
              <a:rPr dirty="0" sz="1800" spc="-1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of</a:t>
            </a:r>
            <a:r>
              <a:rPr dirty="0" sz="1800" spc="-2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the</a:t>
            </a:r>
            <a:r>
              <a:rPr dirty="0" sz="1800" spc="-3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HOD:</a:t>
            </a:r>
            <a:r>
              <a:rPr dirty="0" sz="1800" spc="-1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Dr</a:t>
            </a:r>
            <a:r>
              <a:rPr dirty="0" sz="1800" spc="1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.Asif</a:t>
            </a:r>
            <a:r>
              <a:rPr dirty="0" sz="1800" spc="-25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Mohammed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35"/>
              </a:lnSpc>
              <a:spcBef>
                <a:spcPts val="1889"/>
              </a:spcBef>
            </a:pPr>
            <a:r>
              <a:rPr dirty="0" sz="1800" b="1">
                <a:latin typeface="Cambria"/>
                <a:cs typeface="Cambria"/>
              </a:rPr>
              <a:t>Name</a:t>
            </a:r>
            <a:r>
              <a:rPr dirty="0" sz="1800" spc="-4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of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the</a:t>
            </a:r>
            <a:r>
              <a:rPr dirty="0" sz="1800" spc="-7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program</a:t>
            </a:r>
            <a:r>
              <a:rPr dirty="0" sz="1800" spc="-65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project</a:t>
            </a:r>
            <a:r>
              <a:rPr dirty="0" sz="1800" spc="-75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coordinator: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DR</a:t>
            </a:r>
            <a:r>
              <a:rPr dirty="0" sz="1800" spc="35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.jayavadivel</a:t>
            </a:r>
            <a:r>
              <a:rPr dirty="0" sz="1800" spc="-95" b="1">
                <a:latin typeface="Cambria"/>
                <a:cs typeface="Cambria"/>
              </a:rPr>
              <a:t> </a:t>
            </a:r>
            <a:r>
              <a:rPr dirty="0" sz="1800" spc="-20" b="1">
                <a:latin typeface="Cambria"/>
                <a:cs typeface="Cambria"/>
              </a:rPr>
              <a:t>Ravi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35"/>
              </a:lnSpc>
            </a:pPr>
            <a:r>
              <a:rPr dirty="0" sz="1800" b="1">
                <a:latin typeface="Cambria"/>
                <a:cs typeface="Cambria"/>
              </a:rPr>
              <a:t>Name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of</a:t>
            </a:r>
            <a:r>
              <a:rPr dirty="0" sz="1800" spc="-8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the</a:t>
            </a:r>
            <a:r>
              <a:rPr dirty="0" sz="1800" spc="-6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school</a:t>
            </a:r>
            <a:r>
              <a:rPr dirty="0" sz="1800" spc="-65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project</a:t>
            </a:r>
            <a:r>
              <a:rPr dirty="0" sz="1800" spc="-45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coordinator:</a:t>
            </a:r>
            <a:r>
              <a:rPr dirty="0" sz="1800" spc="-2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DR</a:t>
            </a:r>
            <a:r>
              <a:rPr dirty="0" sz="1800" spc="-10" b="1">
                <a:latin typeface="Cambria"/>
                <a:cs typeface="Cambria"/>
              </a:rPr>
              <a:t> .Sampath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A</a:t>
            </a:r>
            <a:r>
              <a:rPr dirty="0" sz="1800" spc="-6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K</a:t>
            </a:r>
            <a:r>
              <a:rPr dirty="0" sz="1800" spc="-7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,DR</a:t>
            </a:r>
            <a:r>
              <a:rPr dirty="0" sz="1800" spc="15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.Geetha.</a:t>
            </a:r>
            <a:r>
              <a:rPr dirty="0" sz="1800" spc="-75" b="1">
                <a:latin typeface="Cambria"/>
                <a:cs typeface="Cambria"/>
              </a:rPr>
              <a:t> </a:t>
            </a:r>
            <a:r>
              <a:rPr dirty="0" sz="1800" spc="-50" b="1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12850" y="2632580"/>
          <a:ext cx="4824095" cy="1433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2155"/>
                <a:gridCol w="2745740"/>
              </a:tblGrid>
              <a:tr h="449580">
                <a:tc>
                  <a:txBody>
                    <a:bodyPr/>
                    <a:lstStyle/>
                    <a:p>
                      <a:pPr marL="387985">
                        <a:lnSpc>
                          <a:spcPts val="1270"/>
                        </a:lnSpc>
                      </a:pPr>
                      <a:r>
                        <a:rPr dirty="0" sz="1100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Roll</a:t>
                      </a:r>
                      <a:r>
                        <a:rPr dirty="0" sz="1100" spc="15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Number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100" spc="-10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StudentName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127635"/>
                </a:tc>
              </a:tr>
              <a:tr h="984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50" b="1">
                          <a:latin typeface="Georgia"/>
                          <a:cs typeface="Georgia"/>
                        </a:rPr>
                        <a:t>20221CSE0411</a:t>
                      </a:r>
                      <a:endParaRPr sz="16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45" b="1">
                          <a:latin typeface="Georgia"/>
                          <a:cs typeface="Georgia"/>
                        </a:rPr>
                        <a:t>20221CSE0408</a:t>
                      </a:r>
                      <a:endParaRPr sz="16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55"/>
                        </a:lnSpc>
                      </a:pPr>
                      <a:r>
                        <a:rPr dirty="0" sz="1600" spc="-10" b="1">
                          <a:latin typeface="Georgia"/>
                          <a:cs typeface="Georgia"/>
                        </a:rPr>
                        <a:t>20221CSE0565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marL="438150" marR="24130" indent="-55244">
                        <a:lnSpc>
                          <a:spcPct val="119400"/>
                        </a:lnSpc>
                        <a:spcBef>
                          <a:spcPts val="695"/>
                        </a:spcBef>
                      </a:pPr>
                      <a:r>
                        <a:rPr dirty="0" sz="1600" spc="35" b="1">
                          <a:latin typeface="Georgia"/>
                          <a:cs typeface="Georgia"/>
                        </a:rPr>
                        <a:t>C.ChandBasha </a:t>
                      </a:r>
                      <a:r>
                        <a:rPr dirty="0" sz="1600" spc="55" b="1">
                          <a:latin typeface="Georgia"/>
                          <a:cs typeface="Georgia"/>
                        </a:rPr>
                        <a:t>P.Abhisekhar</a:t>
                      </a:r>
                      <a:r>
                        <a:rPr dirty="0" sz="1600" spc="235" b="1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600" spc="-20" b="1">
                          <a:latin typeface="Georgia"/>
                          <a:cs typeface="Georgia"/>
                        </a:rPr>
                        <a:t>Reddy </a:t>
                      </a:r>
                      <a:r>
                        <a:rPr dirty="0" sz="1600" spc="-10" b="1">
                          <a:latin typeface="Georgia"/>
                          <a:cs typeface="Georgia"/>
                        </a:rPr>
                        <a:t>Vidyasagar.M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88265"/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808990" y="884770"/>
            <a:ext cx="10668000" cy="56515"/>
          </a:xfrm>
          <a:custGeom>
            <a:avLst/>
            <a:gdLst/>
            <a:ahLst/>
            <a:cxnLst/>
            <a:rect l="l" t="t" r="r" b="b"/>
            <a:pathLst>
              <a:path w="10668000" h="56515">
                <a:moveTo>
                  <a:pt x="10668000" y="45161"/>
                </a:moveTo>
                <a:lnTo>
                  <a:pt x="0" y="45161"/>
                </a:lnTo>
                <a:lnTo>
                  <a:pt x="0" y="56426"/>
                </a:lnTo>
                <a:lnTo>
                  <a:pt x="10668000" y="56426"/>
                </a:lnTo>
                <a:lnTo>
                  <a:pt x="10668000" y="45161"/>
                </a:lnTo>
                <a:close/>
              </a:path>
              <a:path w="10668000" h="56515">
                <a:moveTo>
                  <a:pt x="10668000" y="0"/>
                </a:moveTo>
                <a:lnTo>
                  <a:pt x="0" y="0"/>
                </a:lnTo>
                <a:lnTo>
                  <a:pt x="0" y="33820"/>
                </a:lnTo>
                <a:lnTo>
                  <a:pt x="10668000" y="3382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1078" cy="8655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397" rIns="0" bIns="0" rtlCol="0" vert="horz">
            <a:spAutoFit/>
          </a:bodyPr>
          <a:lstStyle/>
          <a:p>
            <a:pPr marL="3634104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</a:rPr>
              <a:t>Ground</a:t>
            </a:r>
            <a:r>
              <a:rPr dirty="0" sz="2400" spc="-10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water</a:t>
            </a:r>
            <a:r>
              <a:rPr dirty="0" sz="2400" spc="-105">
                <a:solidFill>
                  <a:srgbClr val="000000"/>
                </a:solidFill>
              </a:rPr>
              <a:t> </a:t>
            </a:r>
            <a:r>
              <a:rPr dirty="0" sz="2400" spc="-20">
                <a:solidFill>
                  <a:srgbClr val="000000"/>
                </a:solidFill>
              </a:rPr>
              <a:t>image</a:t>
            </a:r>
            <a:endParaRPr sz="24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3815" y="1557400"/>
            <a:ext cx="4220210" cy="39771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ProblemStatementNumber: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1213230"/>
            <a:ext cx="10831195" cy="465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SzPct val="133333"/>
              <a:buFont typeface="Arial MT"/>
              <a:buChar char="•"/>
              <a:tabLst>
                <a:tab pos="299085" algn="l"/>
              </a:tabLst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Organization:</a:t>
            </a:r>
            <a:endParaRPr sz="1800">
              <a:latin typeface="Cambria"/>
              <a:cs typeface="Cambria"/>
            </a:endParaRPr>
          </a:p>
          <a:p>
            <a:pPr marL="341630" indent="-328930">
              <a:lnSpc>
                <a:spcPct val="100000"/>
              </a:lnSpc>
              <a:spcBef>
                <a:spcPts val="505"/>
              </a:spcBef>
              <a:buSzPct val="133333"/>
              <a:buFont typeface="Arial MT"/>
              <a:buChar char="•"/>
              <a:tabLst>
                <a:tab pos="341630" algn="l"/>
              </a:tabLst>
            </a:pPr>
            <a:r>
              <a:rPr dirty="0" sz="1800" spc="-10" b="1">
                <a:latin typeface="Verdana"/>
                <a:cs typeface="Verdana"/>
              </a:rPr>
              <a:t>Government</a:t>
            </a:r>
            <a:r>
              <a:rPr dirty="0" sz="1800" spc="-110" b="1">
                <a:latin typeface="Verdana"/>
                <a:cs typeface="Verdana"/>
              </a:rPr>
              <a:t> </a:t>
            </a:r>
            <a:r>
              <a:rPr dirty="0" sz="1800" b="1">
                <a:latin typeface="Verdana"/>
                <a:cs typeface="Verdana"/>
              </a:rPr>
              <a:t>agencies</a:t>
            </a:r>
            <a:r>
              <a:rPr dirty="0" sz="1800">
                <a:latin typeface="Verdana"/>
                <a:cs typeface="Verdana"/>
              </a:rPr>
              <a:t>–</a:t>
            </a:r>
            <a:r>
              <a:rPr dirty="0" sz="1800" spc="-8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3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plan</a:t>
            </a:r>
            <a:r>
              <a:rPr dirty="0" sz="1800" spc="-16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water</a:t>
            </a:r>
            <a:r>
              <a:rPr dirty="0" sz="1800" spc="-10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project</a:t>
            </a:r>
            <a:r>
              <a:rPr dirty="0" sz="1800" spc="-10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sin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rural</a:t>
            </a:r>
            <a:r>
              <a:rPr dirty="0" sz="1800" spc="-114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areas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SzPct val="133333"/>
              <a:buFont typeface="Arial MT"/>
              <a:buChar char="•"/>
              <a:tabLst>
                <a:tab pos="299085" algn="l"/>
              </a:tabLst>
            </a:pPr>
            <a:r>
              <a:rPr dirty="0" sz="1800" spc="-25" b="1">
                <a:latin typeface="Verdana"/>
                <a:cs typeface="Verdana"/>
              </a:rPr>
              <a:t>Non-</a:t>
            </a:r>
            <a:r>
              <a:rPr dirty="0" sz="1800" b="1">
                <a:latin typeface="Verdana"/>
                <a:cs typeface="Verdana"/>
              </a:rPr>
              <a:t>profit</a:t>
            </a:r>
            <a:r>
              <a:rPr dirty="0" sz="1800" spc="-90" b="1">
                <a:latin typeface="Verdana"/>
                <a:cs typeface="Verdana"/>
              </a:rPr>
              <a:t> </a:t>
            </a:r>
            <a:r>
              <a:rPr dirty="0" sz="1800" spc="-10" b="1">
                <a:latin typeface="Verdana"/>
                <a:cs typeface="Verdana"/>
              </a:rPr>
              <a:t>organizations(NGOs)</a:t>
            </a:r>
            <a:r>
              <a:rPr dirty="0" sz="1800" spc="-10">
                <a:latin typeface="Verdana"/>
                <a:cs typeface="Verdana"/>
              </a:rPr>
              <a:t>–</a:t>
            </a:r>
            <a:r>
              <a:rPr dirty="0" sz="1800" spc="-3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help</a:t>
            </a:r>
            <a:r>
              <a:rPr dirty="0" sz="1800" spc="-12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communities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find</a:t>
            </a:r>
            <a:r>
              <a:rPr dirty="0" sz="1800" spc="-12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clean</a:t>
            </a:r>
            <a:r>
              <a:rPr dirty="0" sz="1800" spc="-13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water</a:t>
            </a:r>
            <a:endParaRPr sz="1800">
              <a:latin typeface="Verdana"/>
              <a:cs typeface="Verdana"/>
            </a:endParaRPr>
          </a:p>
          <a:p>
            <a:pPr marL="295910" indent="-283210">
              <a:lnSpc>
                <a:spcPct val="100000"/>
              </a:lnSpc>
              <a:spcBef>
                <a:spcPts val="505"/>
              </a:spcBef>
              <a:buSzPct val="133333"/>
              <a:buFont typeface="Arial MT"/>
              <a:buChar char="•"/>
              <a:tabLst>
                <a:tab pos="295910" algn="l"/>
              </a:tabLst>
            </a:pPr>
            <a:r>
              <a:rPr dirty="0" sz="1800" spc="-10" b="1">
                <a:latin typeface="Verdana"/>
                <a:cs typeface="Verdana"/>
              </a:rPr>
              <a:t>Private</a:t>
            </a:r>
            <a:r>
              <a:rPr dirty="0" sz="1800" spc="-145" b="1">
                <a:latin typeface="Verdana"/>
                <a:cs typeface="Verdana"/>
              </a:rPr>
              <a:t> </a:t>
            </a:r>
            <a:r>
              <a:rPr dirty="0" sz="1800" spc="-10" b="1">
                <a:latin typeface="Verdana"/>
                <a:cs typeface="Verdana"/>
              </a:rPr>
              <a:t>companies</a:t>
            </a:r>
            <a:r>
              <a:rPr dirty="0" sz="1800" spc="-10">
                <a:latin typeface="Verdana"/>
                <a:cs typeface="Verdana"/>
              </a:rPr>
              <a:t>–working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in</a:t>
            </a:r>
            <a:r>
              <a:rPr dirty="0" sz="1800" spc="-1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agriculture,construction,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or</a:t>
            </a:r>
            <a:r>
              <a:rPr dirty="0" sz="1800" spc="-16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water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services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550"/>
              </a:spcBef>
              <a:buSzPct val="133333"/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Verdana"/>
                <a:cs typeface="Verdana"/>
              </a:rPr>
              <a:t>Local</a:t>
            </a:r>
            <a:r>
              <a:rPr dirty="0" sz="1800" spc="-85" b="1">
                <a:latin typeface="Verdana"/>
                <a:cs typeface="Verdana"/>
              </a:rPr>
              <a:t> </a:t>
            </a:r>
            <a:r>
              <a:rPr dirty="0" sz="1800" spc="-10" b="1">
                <a:latin typeface="Verdana"/>
                <a:cs typeface="Verdana"/>
              </a:rPr>
              <a:t>communities</a:t>
            </a:r>
            <a:r>
              <a:rPr dirty="0" sz="1800" spc="-10">
                <a:latin typeface="Verdana"/>
                <a:cs typeface="Verdana"/>
              </a:rPr>
              <a:t>–to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reduce</a:t>
            </a:r>
            <a:r>
              <a:rPr dirty="0" sz="1800" spc="-7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the</a:t>
            </a:r>
            <a:r>
              <a:rPr dirty="0" sz="1800" spc="-9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risk</a:t>
            </a:r>
            <a:r>
              <a:rPr dirty="0" sz="1800" spc="-13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114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drilling</a:t>
            </a:r>
            <a:r>
              <a:rPr dirty="0" sz="1800" spc="-8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dry</a:t>
            </a:r>
            <a:r>
              <a:rPr dirty="0" sz="1800" spc="-13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wells</a:t>
            </a:r>
            <a:endParaRPr sz="1800">
              <a:latin typeface="Verdana"/>
              <a:cs typeface="Verdana"/>
            </a:endParaRPr>
          </a:p>
          <a:p>
            <a:pPr marL="469265" marR="5080">
              <a:lnSpc>
                <a:spcPct val="101099"/>
              </a:lnSpc>
              <a:spcBef>
                <a:spcPts val="459"/>
              </a:spcBef>
            </a:pPr>
            <a:r>
              <a:rPr dirty="0" sz="1800">
                <a:latin typeface="Verdana"/>
                <a:cs typeface="Verdana"/>
              </a:rPr>
              <a:t>These</a:t>
            </a:r>
            <a:r>
              <a:rPr dirty="0" sz="1800" spc="-10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organizations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can</a:t>
            </a:r>
            <a:r>
              <a:rPr dirty="0" sz="1800" spc="-14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use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the</a:t>
            </a:r>
            <a:r>
              <a:rPr dirty="0" sz="1800" spc="-10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tool</a:t>
            </a:r>
            <a:r>
              <a:rPr dirty="0" sz="1800" spc="-9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make</a:t>
            </a:r>
            <a:r>
              <a:rPr dirty="0" sz="1800" spc="-114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better</a:t>
            </a:r>
            <a:r>
              <a:rPr dirty="0" sz="1800" spc="-8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decisions,savere</a:t>
            </a:r>
            <a:r>
              <a:rPr dirty="0" sz="1800" spc="-13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sources,and</a:t>
            </a:r>
            <a:r>
              <a:rPr dirty="0" sz="1800" spc="-3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improve </a:t>
            </a:r>
            <a:r>
              <a:rPr dirty="0" sz="1800">
                <a:latin typeface="Verdana"/>
                <a:cs typeface="Verdana"/>
              </a:rPr>
              <a:t>access</a:t>
            </a:r>
            <a:r>
              <a:rPr dirty="0" sz="1800" spc="-2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10">
                <a:latin typeface="Verdana"/>
                <a:cs typeface="Verdana"/>
              </a:rPr>
              <a:t> water.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1800">
              <a:latin typeface="Verdana"/>
              <a:cs typeface="Verdana"/>
            </a:endParaRPr>
          </a:p>
          <a:p>
            <a:pPr marL="165100">
              <a:lnSpc>
                <a:spcPct val="100000"/>
              </a:lnSpc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Category:</a:t>
            </a:r>
            <a:r>
              <a:rPr dirty="0" sz="1800" spc="-10">
                <a:latin typeface="Cambria"/>
                <a:cs typeface="Cambria"/>
              </a:rPr>
              <a:t>Software</a:t>
            </a:r>
            <a:endParaRPr sz="1800">
              <a:latin typeface="Cambria"/>
              <a:cs typeface="Cambria"/>
            </a:endParaRPr>
          </a:p>
          <a:p>
            <a:pPr marL="12700" marR="532765">
              <a:lnSpc>
                <a:spcPct val="104400"/>
              </a:lnSpc>
              <a:spcBef>
                <a:spcPts val="92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Problem</a:t>
            </a:r>
            <a:r>
              <a:rPr dirty="0" u="sng" sz="1800" spc="-5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Description:</a:t>
            </a:r>
            <a:r>
              <a:rPr dirty="0" sz="1800">
                <a:latin typeface="Verdana"/>
                <a:cs typeface="Verdana"/>
              </a:rPr>
              <a:t>Many</a:t>
            </a:r>
            <a:r>
              <a:rPr dirty="0" sz="1800" spc="-9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people</a:t>
            </a:r>
            <a:r>
              <a:rPr dirty="0" sz="1800" spc="-5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waste</a:t>
            </a:r>
            <a:r>
              <a:rPr dirty="0" sz="1800" spc="-6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time</a:t>
            </a:r>
            <a:r>
              <a:rPr dirty="0" sz="1800" spc="-7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and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money</a:t>
            </a:r>
            <a:r>
              <a:rPr dirty="0" sz="1800" spc="-9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drilling</a:t>
            </a:r>
            <a:r>
              <a:rPr dirty="0" sz="1800" spc="-6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waterwell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sin</a:t>
            </a:r>
            <a:r>
              <a:rPr dirty="0" sz="1800" spc="-7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the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wrong </a:t>
            </a:r>
            <a:r>
              <a:rPr dirty="0" sz="1800">
                <a:latin typeface="Verdana"/>
                <a:cs typeface="Verdana"/>
              </a:rPr>
              <a:t>places.</a:t>
            </a:r>
            <a:r>
              <a:rPr dirty="0" sz="1800" spc="-4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It’s</a:t>
            </a:r>
            <a:r>
              <a:rPr dirty="0" sz="1800" spc="-6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hard</a:t>
            </a:r>
            <a:r>
              <a:rPr dirty="0" sz="1800" spc="-10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9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know</a:t>
            </a:r>
            <a:r>
              <a:rPr dirty="0" sz="1800" spc="-114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where</a:t>
            </a:r>
            <a:r>
              <a:rPr dirty="0" sz="1800" spc="-9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9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find</a:t>
            </a:r>
            <a:r>
              <a:rPr dirty="0" sz="1800" spc="-8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water</a:t>
            </a:r>
            <a:r>
              <a:rPr dirty="0" sz="1800" spc="-10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underground.</a:t>
            </a:r>
            <a:r>
              <a:rPr dirty="0" sz="1800" spc="-12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Traditional</a:t>
            </a:r>
            <a:r>
              <a:rPr dirty="0" sz="1800" spc="-3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methods</a:t>
            </a:r>
            <a:r>
              <a:rPr dirty="0" sz="1800" spc="-8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often</a:t>
            </a:r>
            <a:r>
              <a:rPr dirty="0" sz="1800" spc="-114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fail.</a:t>
            </a:r>
            <a:endParaRPr sz="1800">
              <a:latin typeface="Verdana"/>
              <a:cs typeface="Verdana"/>
            </a:endParaRPr>
          </a:p>
          <a:p>
            <a:pPr marL="889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Verdana"/>
                <a:cs typeface="Verdana"/>
              </a:rPr>
              <a:t>We</a:t>
            </a:r>
            <a:r>
              <a:rPr dirty="0" sz="1800" spc="-7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need</a:t>
            </a:r>
            <a:r>
              <a:rPr dirty="0" sz="1800" spc="-4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a</a:t>
            </a:r>
            <a:r>
              <a:rPr dirty="0" sz="1800" spc="-10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better</a:t>
            </a:r>
            <a:r>
              <a:rPr dirty="0" sz="1800" spc="-4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way</a:t>
            </a:r>
            <a:r>
              <a:rPr dirty="0" sz="1800" spc="-9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find</a:t>
            </a:r>
            <a:r>
              <a:rPr dirty="0" sz="1800" spc="-9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the</a:t>
            </a:r>
            <a:r>
              <a:rPr dirty="0" sz="1800" spc="-7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right</a:t>
            </a:r>
            <a:r>
              <a:rPr dirty="0" sz="1800" spc="-6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spots</a:t>
            </a:r>
            <a:r>
              <a:rPr dirty="0" sz="1800" spc="-8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drill</a:t>
            </a:r>
            <a:r>
              <a:rPr dirty="0" sz="1800" spc="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wells.</a:t>
            </a:r>
            <a:endParaRPr sz="1800">
              <a:latin typeface="Verdana"/>
              <a:cs typeface="Verdana"/>
            </a:endParaRPr>
          </a:p>
          <a:p>
            <a:pPr marL="469265" marR="549275" indent="-381000">
              <a:lnSpc>
                <a:spcPct val="102299"/>
              </a:lnSpc>
              <a:spcBef>
                <a:spcPts val="215"/>
              </a:spcBef>
            </a:pPr>
            <a:r>
              <a:rPr dirty="0" sz="1800">
                <a:latin typeface="Verdana"/>
                <a:cs typeface="Verdana"/>
              </a:rPr>
              <a:t>An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AI-</a:t>
            </a:r>
            <a:r>
              <a:rPr dirty="0" sz="1800">
                <a:latin typeface="Verdana"/>
                <a:cs typeface="Verdana"/>
              </a:rPr>
              <a:t>enabled</a:t>
            </a:r>
            <a:r>
              <a:rPr dirty="0" sz="1800" spc="-6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tool</a:t>
            </a:r>
            <a:r>
              <a:rPr dirty="0" sz="1800" spc="-4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can</a:t>
            </a:r>
            <a:r>
              <a:rPr dirty="0" sz="1800" spc="-114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help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by</a:t>
            </a:r>
            <a:r>
              <a:rPr dirty="0" sz="1800" spc="-9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using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data</a:t>
            </a:r>
            <a:r>
              <a:rPr dirty="0" sz="1800" spc="-10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predict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the</a:t>
            </a:r>
            <a:r>
              <a:rPr dirty="0" sz="1800" spc="-10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best</a:t>
            </a:r>
            <a:r>
              <a:rPr dirty="0" sz="1800" spc="-4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places</a:t>
            </a:r>
            <a:r>
              <a:rPr dirty="0" sz="1800" spc="-7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7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find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water,</a:t>
            </a:r>
            <a:r>
              <a:rPr dirty="0" sz="1800" spc="-11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saving </a:t>
            </a:r>
            <a:r>
              <a:rPr dirty="0" sz="1800">
                <a:latin typeface="Verdana"/>
                <a:cs typeface="Verdana"/>
              </a:rPr>
              <a:t>effort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and</a:t>
            </a:r>
            <a:r>
              <a:rPr dirty="0" sz="1800" spc="-4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improving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success.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450" y="1787398"/>
            <a:ext cx="47412" cy="17779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808990" y="885126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910"/>
                </a:moveTo>
                <a:lnTo>
                  <a:pt x="0" y="45910"/>
                </a:lnTo>
                <a:lnTo>
                  <a:pt x="0" y="57340"/>
                </a:lnTo>
                <a:lnTo>
                  <a:pt x="10668000" y="57340"/>
                </a:lnTo>
                <a:lnTo>
                  <a:pt x="10668000" y="45910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53"/>
                </a:lnTo>
                <a:lnTo>
                  <a:pt x="10668000" y="34353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Content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6764" y="1567581"/>
            <a:ext cx="4768215" cy="338201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580"/>
              </a:spcBef>
              <a:buSzPct val="141176"/>
              <a:buFont typeface="Arial MT"/>
              <a:buChar char="•"/>
              <a:tabLst>
                <a:tab pos="356870" algn="l"/>
              </a:tabLst>
            </a:pPr>
            <a:r>
              <a:rPr dirty="0" sz="1700">
                <a:latin typeface="Cambria"/>
                <a:cs typeface="Cambria"/>
              </a:rPr>
              <a:t>Problem</a:t>
            </a:r>
            <a:r>
              <a:rPr dirty="0" sz="1700" spc="-8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Statement</a:t>
            </a:r>
            <a:endParaRPr sz="17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70"/>
              </a:spcBef>
              <a:buSzPct val="141176"/>
              <a:buFont typeface="Arial MT"/>
              <a:buChar char="•"/>
              <a:tabLst>
                <a:tab pos="356870" algn="l"/>
              </a:tabLst>
            </a:pPr>
            <a:r>
              <a:rPr dirty="0" sz="1700" spc="-10">
                <a:latin typeface="Cambria"/>
                <a:cs typeface="Cambria"/>
              </a:rPr>
              <a:t>Objectives</a:t>
            </a:r>
            <a:endParaRPr sz="17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65"/>
              </a:spcBef>
              <a:buSzPct val="141176"/>
              <a:buFont typeface="Arial MT"/>
              <a:buChar char="•"/>
              <a:tabLst>
                <a:tab pos="356870" algn="l"/>
              </a:tabLst>
            </a:pPr>
            <a:r>
              <a:rPr dirty="0" sz="1700">
                <a:latin typeface="Cambria"/>
                <a:cs typeface="Cambria"/>
              </a:rPr>
              <a:t>Back</a:t>
            </a:r>
            <a:r>
              <a:rPr dirty="0" sz="1700" spc="-6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ground</a:t>
            </a:r>
            <a:r>
              <a:rPr dirty="0" sz="1700" spc="-7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Related</a:t>
            </a:r>
            <a:r>
              <a:rPr dirty="0" sz="1700" spc="-6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work</a:t>
            </a:r>
            <a:r>
              <a:rPr dirty="0" sz="1700" spc="-6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for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title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Selection</a:t>
            </a:r>
            <a:endParaRPr sz="17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70"/>
              </a:spcBef>
              <a:buSzPct val="141176"/>
              <a:buFont typeface="Arial MT"/>
              <a:buChar char="•"/>
              <a:tabLst>
                <a:tab pos="356870" algn="l"/>
              </a:tabLst>
            </a:pPr>
            <a:r>
              <a:rPr dirty="0" sz="1700" spc="-10">
                <a:latin typeface="Cambria"/>
                <a:cs typeface="Cambria"/>
              </a:rPr>
              <a:t>Analysis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Problem</a:t>
            </a:r>
            <a:r>
              <a:rPr dirty="0" sz="1700" spc="-7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Statement</a:t>
            </a:r>
            <a:endParaRPr sz="17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70"/>
              </a:spcBef>
              <a:buSzPct val="141176"/>
              <a:buFont typeface="Arial MT"/>
              <a:buChar char="•"/>
              <a:tabLst>
                <a:tab pos="356870" algn="l"/>
              </a:tabLst>
            </a:pPr>
            <a:r>
              <a:rPr dirty="0" sz="1700" spc="-10">
                <a:latin typeface="Cambria"/>
                <a:cs typeface="Cambria"/>
              </a:rPr>
              <a:t>Innovation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or</a:t>
            </a:r>
            <a:r>
              <a:rPr dirty="0" sz="1700" spc="-5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Novel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Contributions</a:t>
            </a:r>
            <a:endParaRPr sz="17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70"/>
              </a:spcBef>
              <a:buSzPct val="141176"/>
              <a:buFont typeface="Arial MT"/>
              <a:buChar char="•"/>
              <a:tabLst>
                <a:tab pos="356870" algn="l"/>
              </a:tabLst>
            </a:pPr>
            <a:r>
              <a:rPr dirty="0" sz="1700" spc="-35">
                <a:latin typeface="Cambria"/>
                <a:cs typeface="Cambria"/>
              </a:rPr>
              <a:t>Git-</a:t>
            </a:r>
            <a:r>
              <a:rPr dirty="0" sz="1700">
                <a:latin typeface="Cambria"/>
                <a:cs typeface="Cambria"/>
              </a:rPr>
              <a:t>hub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Link</a:t>
            </a:r>
            <a:endParaRPr sz="17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275"/>
              </a:spcBef>
              <a:buSzPct val="141176"/>
              <a:buFont typeface="Arial MT"/>
              <a:buChar char="•"/>
              <a:tabLst>
                <a:tab pos="356870" algn="l"/>
              </a:tabLst>
            </a:pPr>
            <a:r>
              <a:rPr dirty="0" sz="1700" spc="-10">
                <a:latin typeface="Cambria"/>
                <a:cs typeface="Cambria"/>
              </a:rPr>
              <a:t>Timeline</a:t>
            </a:r>
            <a:r>
              <a:rPr dirty="0" sz="1700" spc="-6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the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Project</a:t>
            </a:r>
            <a:endParaRPr sz="17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70"/>
              </a:spcBef>
              <a:buSzPct val="141176"/>
              <a:buFont typeface="Arial MT"/>
              <a:buChar char="•"/>
              <a:tabLst>
                <a:tab pos="356870" algn="l"/>
              </a:tabLst>
            </a:pPr>
            <a:r>
              <a:rPr dirty="0" sz="1700" spc="-10">
                <a:latin typeface="Cambria"/>
                <a:cs typeface="Cambria"/>
              </a:rPr>
              <a:t>References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08990" y="885126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910"/>
                </a:moveTo>
                <a:lnTo>
                  <a:pt x="0" y="45910"/>
                </a:lnTo>
                <a:lnTo>
                  <a:pt x="0" y="57340"/>
                </a:lnTo>
                <a:lnTo>
                  <a:pt x="10668000" y="57340"/>
                </a:lnTo>
                <a:lnTo>
                  <a:pt x="10668000" y="45910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53"/>
                </a:lnTo>
                <a:lnTo>
                  <a:pt x="10668000" y="34353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Problem</a:t>
            </a:r>
            <a:r>
              <a:rPr dirty="0" spc="-135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9060" y="1237614"/>
            <a:ext cx="8785225" cy="299275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93065" marR="708660" indent="-381000">
              <a:lnSpc>
                <a:spcPts val="2310"/>
              </a:lnSpc>
              <a:spcBef>
                <a:spcPts val="24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Drilling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well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is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expensive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and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sometimes</a:t>
            </a:r>
            <a:r>
              <a:rPr dirty="0" sz="2000" spc="-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fails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if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no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water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is </a:t>
            </a:r>
            <a:r>
              <a:rPr dirty="0" sz="2000" spc="-10">
                <a:latin typeface="Verdana"/>
                <a:cs typeface="Verdana"/>
              </a:rPr>
              <a:t>found.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37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Traditional</a:t>
            </a:r>
            <a:r>
              <a:rPr dirty="0" sz="2000" spc="-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method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choose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drilling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spots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are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not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always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sreliable.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31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Failed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drilling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wastes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money</a:t>
            </a:r>
            <a:r>
              <a:rPr dirty="0" sz="2000" spc="-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,time,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and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resources.</a:t>
            </a:r>
            <a:endParaRPr sz="2000">
              <a:latin typeface="Verdana"/>
              <a:cs typeface="Verdana"/>
            </a:endParaRPr>
          </a:p>
          <a:p>
            <a:pPr marL="393065" marR="862965" indent="-381000">
              <a:lnSpc>
                <a:spcPts val="2310"/>
              </a:lnSpc>
              <a:spcBef>
                <a:spcPts val="459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There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is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need</a:t>
            </a:r>
            <a:r>
              <a:rPr dirty="0" sz="2000" spc="-8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as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marter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,data-</a:t>
            </a:r>
            <a:r>
              <a:rPr dirty="0" sz="2000">
                <a:latin typeface="Verdana"/>
                <a:cs typeface="Verdana"/>
              </a:rPr>
              <a:t>driven</a:t>
            </a:r>
            <a:r>
              <a:rPr dirty="0" sz="2000" spc="-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way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find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good </a:t>
            </a:r>
            <a:r>
              <a:rPr dirty="0" sz="2000">
                <a:latin typeface="Verdana"/>
                <a:cs typeface="Verdana"/>
              </a:rPr>
              <a:t>well</a:t>
            </a:r>
            <a:r>
              <a:rPr dirty="0" sz="2000" spc="-2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locations.</a:t>
            </a:r>
            <a:endParaRPr sz="2000">
              <a:latin typeface="Verdana"/>
              <a:cs typeface="Verdana"/>
            </a:endParaRPr>
          </a:p>
          <a:p>
            <a:pPr marL="393065" marR="405130" indent="-381000">
              <a:lnSpc>
                <a:spcPct val="102099"/>
              </a:lnSpc>
              <a:spcBef>
                <a:spcPts val="20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AI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can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help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by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analyzing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past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data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predict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the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best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places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to </a:t>
            </a:r>
            <a:r>
              <a:rPr dirty="0" sz="2000" spc="-10">
                <a:latin typeface="Verdana"/>
                <a:cs typeface="Verdana"/>
              </a:rPr>
              <a:t>drill.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45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Many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people,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especially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in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rural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areas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,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depend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on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wells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water.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08990" y="885126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910"/>
                </a:moveTo>
                <a:lnTo>
                  <a:pt x="0" y="45910"/>
                </a:lnTo>
                <a:lnTo>
                  <a:pt x="0" y="57340"/>
                </a:lnTo>
                <a:lnTo>
                  <a:pt x="10668000" y="57340"/>
                </a:lnTo>
                <a:lnTo>
                  <a:pt x="10668000" y="45910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53"/>
                </a:lnTo>
                <a:lnTo>
                  <a:pt x="10668000" y="34353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124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</a:rPr>
              <a:t>Objectives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969060" y="1234567"/>
            <a:ext cx="7611745" cy="2028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9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 b="1">
                <a:latin typeface="Verdana"/>
                <a:cs typeface="Verdana"/>
              </a:rPr>
              <a:t>Predict</a:t>
            </a:r>
            <a:r>
              <a:rPr dirty="0" sz="2000" spc="-110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the</a:t>
            </a:r>
            <a:r>
              <a:rPr dirty="0" sz="2000" spc="-95" b="1">
                <a:latin typeface="Verdana"/>
                <a:cs typeface="Verdana"/>
              </a:rPr>
              <a:t> </a:t>
            </a:r>
            <a:r>
              <a:rPr dirty="0" sz="2000" spc="-10" b="1">
                <a:latin typeface="Verdana"/>
                <a:cs typeface="Verdana"/>
              </a:rPr>
              <a:t>best</a:t>
            </a:r>
            <a:r>
              <a:rPr dirty="0" sz="2000" spc="-140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locations</a:t>
            </a:r>
            <a:r>
              <a:rPr dirty="0" sz="2000" spc="-125" b="1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drill</a:t>
            </a:r>
            <a:r>
              <a:rPr dirty="0" sz="2000" spc="-8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water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wells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using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AI.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34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 spc="-10" b="1">
                <a:latin typeface="Verdana"/>
                <a:cs typeface="Verdana"/>
              </a:rPr>
              <a:t>Increase</a:t>
            </a:r>
            <a:r>
              <a:rPr dirty="0" sz="2000" spc="-155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the</a:t>
            </a:r>
            <a:r>
              <a:rPr dirty="0" sz="2000" spc="-125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success</a:t>
            </a:r>
            <a:r>
              <a:rPr dirty="0" sz="2000" spc="-35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rate</a:t>
            </a:r>
            <a:r>
              <a:rPr dirty="0" sz="2000" spc="-125" b="1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finding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groundwater.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31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 spc="-10" b="1">
                <a:latin typeface="Verdana"/>
                <a:cs typeface="Verdana"/>
              </a:rPr>
              <a:t>Reduce</a:t>
            </a:r>
            <a:r>
              <a:rPr dirty="0" sz="2000" spc="-150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cost</a:t>
            </a:r>
            <a:r>
              <a:rPr dirty="0" sz="2000" spc="-105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sand</a:t>
            </a:r>
            <a:r>
              <a:rPr dirty="0" sz="2000" spc="-130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time</a:t>
            </a:r>
            <a:r>
              <a:rPr dirty="0" sz="2000" spc="-145" b="1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wasted</a:t>
            </a:r>
            <a:r>
              <a:rPr dirty="0" sz="2000" spc="-9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on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failed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drilling.</a:t>
            </a:r>
            <a:endParaRPr sz="2000">
              <a:latin typeface="Verdana"/>
              <a:cs typeface="Verdana"/>
            </a:endParaRPr>
          </a:p>
          <a:p>
            <a:pPr marL="393065" marR="328295" indent="-381000">
              <a:lnSpc>
                <a:spcPts val="2300"/>
              </a:lnSpc>
              <a:spcBef>
                <a:spcPts val="47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 b="1">
                <a:latin typeface="Verdana"/>
                <a:cs typeface="Verdana"/>
              </a:rPr>
              <a:t>Help</a:t>
            </a:r>
            <a:r>
              <a:rPr dirty="0" sz="2000" spc="-135" b="1">
                <a:latin typeface="Verdana"/>
                <a:cs typeface="Verdana"/>
              </a:rPr>
              <a:t> </a:t>
            </a:r>
            <a:r>
              <a:rPr dirty="0" sz="2000" spc="-10" b="1">
                <a:latin typeface="Verdana"/>
                <a:cs typeface="Verdana"/>
              </a:rPr>
              <a:t>communities</a:t>
            </a:r>
            <a:r>
              <a:rPr dirty="0" sz="2000" spc="-135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and</a:t>
            </a:r>
            <a:r>
              <a:rPr dirty="0" sz="2000" spc="-130" b="1">
                <a:latin typeface="Verdana"/>
                <a:cs typeface="Verdana"/>
              </a:rPr>
              <a:t> </a:t>
            </a:r>
            <a:r>
              <a:rPr dirty="0" sz="2000" spc="-10" b="1">
                <a:latin typeface="Verdana"/>
                <a:cs typeface="Verdana"/>
              </a:rPr>
              <a:t>planners</a:t>
            </a:r>
            <a:r>
              <a:rPr dirty="0" sz="2000" spc="-140" b="1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make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better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water </a:t>
            </a:r>
            <a:r>
              <a:rPr dirty="0" sz="2000" spc="-10">
                <a:latin typeface="Verdana"/>
                <a:cs typeface="Verdana"/>
              </a:rPr>
              <a:t>decisions.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38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 spc="-10" b="1">
                <a:latin typeface="Verdana"/>
                <a:cs typeface="Verdana"/>
              </a:rPr>
              <a:t>Support</a:t>
            </a:r>
            <a:r>
              <a:rPr dirty="0" sz="2000" spc="-110" b="1">
                <a:latin typeface="Verdana"/>
                <a:cs typeface="Verdana"/>
              </a:rPr>
              <a:t> </a:t>
            </a:r>
            <a:r>
              <a:rPr dirty="0" sz="2000" spc="-10" b="1">
                <a:latin typeface="Verdana"/>
                <a:cs typeface="Verdana"/>
              </a:rPr>
              <a:t>sustainable</a:t>
            </a:r>
            <a:r>
              <a:rPr dirty="0" sz="2000" spc="-100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use</a:t>
            </a:r>
            <a:r>
              <a:rPr dirty="0" sz="2000" spc="-114" b="1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groundwater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resources.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08990" y="885253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910"/>
                </a:moveTo>
                <a:lnTo>
                  <a:pt x="0" y="45910"/>
                </a:lnTo>
                <a:lnTo>
                  <a:pt x="0" y="57340"/>
                </a:lnTo>
                <a:lnTo>
                  <a:pt x="10668000" y="57340"/>
                </a:lnTo>
                <a:lnTo>
                  <a:pt x="10668000" y="45910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53"/>
                </a:lnTo>
                <a:lnTo>
                  <a:pt x="10668000" y="34353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solidFill>
                  <a:srgbClr val="000000"/>
                </a:solidFill>
              </a:rPr>
              <a:t>Background</a:t>
            </a:r>
            <a:r>
              <a:rPr dirty="0" sz="2400" spc="-9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and</a:t>
            </a:r>
            <a:r>
              <a:rPr dirty="0" sz="2400" spc="-90">
                <a:solidFill>
                  <a:srgbClr val="000000"/>
                </a:solidFill>
              </a:rPr>
              <a:t> </a:t>
            </a:r>
            <a:r>
              <a:rPr dirty="0" sz="2400" spc="-20">
                <a:solidFill>
                  <a:srgbClr val="000000"/>
                </a:solidFill>
              </a:rPr>
              <a:t>Related</a:t>
            </a:r>
            <a:r>
              <a:rPr dirty="0" sz="2400" spc="-8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work</a:t>
            </a:r>
            <a:r>
              <a:rPr dirty="0" sz="2400" spc="-10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for</a:t>
            </a:r>
            <a:r>
              <a:rPr dirty="0" sz="2400" spc="-1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title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Selection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969060" y="1231519"/>
            <a:ext cx="8643620" cy="273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9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Background</a:t>
            </a:r>
            <a:endParaRPr sz="20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48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Many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rural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are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as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rely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on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water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wells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drinking</a:t>
            </a:r>
            <a:r>
              <a:rPr dirty="0" sz="2000" spc="-8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and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farming.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31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Drilling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well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sis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expensive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and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sometimes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fail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water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isn't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found.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31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 spc="-10">
                <a:latin typeface="Verdana"/>
                <a:cs typeface="Verdana"/>
              </a:rPr>
              <a:t>Traditional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methods(like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surveys)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are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not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always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accurate.</a:t>
            </a:r>
            <a:endParaRPr sz="2000">
              <a:latin typeface="Verdana"/>
              <a:cs typeface="Verdana"/>
            </a:endParaRPr>
          </a:p>
          <a:p>
            <a:pPr marL="393065" marR="992505" indent="-381000">
              <a:lnSpc>
                <a:spcPts val="2210"/>
              </a:lnSpc>
              <a:spcBef>
                <a:spcPts val="66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AI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can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analyze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large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datasets(e.g.,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soil</a:t>
            </a:r>
            <a:r>
              <a:rPr dirty="0" sz="2000" spc="1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,rainfall,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past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well </a:t>
            </a:r>
            <a:r>
              <a:rPr dirty="0" sz="2000">
                <a:latin typeface="Verdana"/>
                <a:cs typeface="Verdana"/>
              </a:rPr>
              <a:t>data)to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find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better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drilling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spots.</a:t>
            </a:r>
            <a:endParaRPr sz="2000">
              <a:latin typeface="Verdana"/>
              <a:cs typeface="Verdana"/>
            </a:endParaRPr>
          </a:p>
          <a:p>
            <a:pPr marL="393065" marR="5080" indent="-381000">
              <a:lnSpc>
                <a:spcPct val="101400"/>
              </a:lnSpc>
              <a:spcBef>
                <a:spcPts val="23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Using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AI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can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save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money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,reduce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failures</a:t>
            </a:r>
            <a:r>
              <a:rPr dirty="0" sz="2000" spc="-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,and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improve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access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to </a:t>
            </a:r>
            <a:r>
              <a:rPr dirty="0" sz="2000" spc="-10">
                <a:latin typeface="Verdana"/>
                <a:cs typeface="Verdana"/>
              </a:rPr>
              <a:t>wate</a:t>
            </a:r>
            <a:r>
              <a:rPr dirty="0" sz="2400" spc="-10">
                <a:latin typeface="Verdana"/>
                <a:cs typeface="Verdana"/>
              </a:rPr>
              <a:t>r.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08990" y="884999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910"/>
                </a:moveTo>
                <a:lnTo>
                  <a:pt x="0" y="45910"/>
                </a:lnTo>
                <a:lnTo>
                  <a:pt x="0" y="57340"/>
                </a:lnTo>
                <a:lnTo>
                  <a:pt x="10668000" y="57340"/>
                </a:lnTo>
                <a:lnTo>
                  <a:pt x="10668000" y="45910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53"/>
                </a:lnTo>
                <a:lnTo>
                  <a:pt x="10668000" y="34353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solidFill>
                  <a:srgbClr val="000000"/>
                </a:solidFill>
              </a:rPr>
              <a:t>Background</a:t>
            </a:r>
            <a:r>
              <a:rPr dirty="0" sz="2400" spc="-9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and</a:t>
            </a:r>
            <a:r>
              <a:rPr dirty="0" sz="2400" spc="-90">
                <a:solidFill>
                  <a:srgbClr val="000000"/>
                </a:solidFill>
              </a:rPr>
              <a:t> </a:t>
            </a:r>
            <a:r>
              <a:rPr dirty="0" sz="2400" spc="-20">
                <a:solidFill>
                  <a:srgbClr val="000000"/>
                </a:solidFill>
              </a:rPr>
              <a:t>Related</a:t>
            </a:r>
            <a:r>
              <a:rPr dirty="0" sz="2400" spc="-8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work</a:t>
            </a:r>
            <a:r>
              <a:rPr dirty="0" sz="2400" spc="-10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for</a:t>
            </a:r>
            <a:r>
              <a:rPr dirty="0" sz="2400" spc="-1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title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Selection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969060" y="1216279"/>
            <a:ext cx="9163050" cy="36652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9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Related</a:t>
            </a:r>
            <a:r>
              <a:rPr dirty="0" u="sng" sz="2000" spc="-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-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work</a:t>
            </a:r>
            <a:endParaRPr sz="2000">
              <a:latin typeface="Cambria"/>
              <a:cs typeface="Cambria"/>
            </a:endParaRPr>
          </a:p>
          <a:p>
            <a:pPr marL="393065" marR="1182370" indent="-381000">
              <a:lnSpc>
                <a:spcPct val="102000"/>
              </a:lnSpc>
              <a:spcBef>
                <a:spcPts val="19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AI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and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machine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learning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are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already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use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din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agriculture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and </a:t>
            </a:r>
            <a:r>
              <a:rPr dirty="0" sz="2000" spc="-10">
                <a:latin typeface="Verdana"/>
                <a:cs typeface="Verdana"/>
              </a:rPr>
              <a:t>water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management.</a:t>
            </a:r>
            <a:endParaRPr sz="2000">
              <a:latin typeface="Verdana"/>
              <a:cs typeface="Verdana"/>
            </a:endParaRPr>
          </a:p>
          <a:p>
            <a:pPr marL="393065" marR="216535" indent="-381000">
              <a:lnSpc>
                <a:spcPts val="2210"/>
              </a:lnSpc>
              <a:spcBef>
                <a:spcPts val="112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Remote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sensing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and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GIS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have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been</a:t>
            </a:r>
            <a:r>
              <a:rPr dirty="0" sz="2000" spc="-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used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to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map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groundwater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from </a:t>
            </a:r>
            <a:r>
              <a:rPr dirty="0" sz="2000">
                <a:latin typeface="Verdana"/>
                <a:cs typeface="Verdana"/>
              </a:rPr>
              <a:t>satellite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data.</a:t>
            </a:r>
            <a:endParaRPr sz="2000">
              <a:latin typeface="Verdana"/>
              <a:cs typeface="Verdana"/>
            </a:endParaRPr>
          </a:p>
          <a:p>
            <a:pPr marL="393065" marR="934719" indent="-381000">
              <a:lnSpc>
                <a:spcPts val="2230"/>
              </a:lnSpc>
              <a:spcBef>
                <a:spcPts val="800"/>
              </a:spcBef>
              <a:buSzPct val="120000"/>
              <a:buFont typeface="Arial MT"/>
              <a:buChar char="•"/>
              <a:tabLst>
                <a:tab pos="393065" algn="l"/>
                <a:tab pos="3369310" algn="l"/>
              </a:tabLst>
            </a:pPr>
            <a:r>
              <a:rPr dirty="0" sz="2000" spc="-10">
                <a:latin typeface="Verdana"/>
                <a:cs typeface="Verdana"/>
              </a:rPr>
              <a:t>Studies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in</a:t>
            </a:r>
            <a:r>
              <a:rPr dirty="0" sz="2000" spc="-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countries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like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India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and</a:t>
            </a:r>
            <a:r>
              <a:rPr dirty="0" sz="2000" spc="-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Africa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have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used</a:t>
            </a:r>
            <a:r>
              <a:rPr dirty="0" sz="2000" spc="-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AI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models </a:t>
            </a:r>
            <a:r>
              <a:rPr dirty="0" sz="2000">
                <a:latin typeface="Verdana"/>
                <a:cs typeface="Verdana"/>
              </a:rPr>
              <a:t>(e.g.,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Random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Forest)</a:t>
            </a:r>
            <a:r>
              <a:rPr dirty="0" sz="2000">
                <a:latin typeface="Verdana"/>
                <a:cs typeface="Verdana"/>
              </a:rPr>
              <a:t>	to</a:t>
            </a:r>
            <a:r>
              <a:rPr dirty="0" sz="2000" spc="-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predict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good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well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locations.</a:t>
            </a:r>
            <a:endParaRPr sz="2000">
              <a:latin typeface="Verdana"/>
              <a:cs typeface="Verdana"/>
            </a:endParaRPr>
          </a:p>
          <a:p>
            <a:pPr marL="393065" marR="432434" indent="-381000">
              <a:lnSpc>
                <a:spcPct val="100000"/>
              </a:lnSpc>
              <a:spcBef>
                <a:spcPts val="39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AI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helps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combine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multiple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factors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like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soil,elevation,and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rainfall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to </a:t>
            </a:r>
            <a:r>
              <a:rPr dirty="0" sz="2000">
                <a:latin typeface="Verdana"/>
                <a:cs typeface="Verdana"/>
              </a:rPr>
              <a:t>make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better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predictions.</a:t>
            </a:r>
            <a:endParaRPr sz="2000">
              <a:latin typeface="Verdana"/>
              <a:cs typeface="Verdana"/>
            </a:endParaRPr>
          </a:p>
          <a:p>
            <a:pPr marL="393065" marR="5080" indent="-381000">
              <a:lnSpc>
                <a:spcPts val="2210"/>
              </a:lnSpc>
              <a:spcBef>
                <a:spcPts val="81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 spc="-20">
                <a:latin typeface="Verdana"/>
                <a:cs typeface="Verdana"/>
              </a:rPr>
              <a:t>Some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NGO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sand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global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organization</a:t>
            </a:r>
            <a:r>
              <a:rPr dirty="0" sz="2000" spc="-8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shave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tested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AI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tools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improve </a:t>
            </a:r>
            <a:r>
              <a:rPr dirty="0" sz="2000">
                <a:latin typeface="Verdana"/>
                <a:cs typeface="Verdana"/>
              </a:rPr>
              <a:t>water</a:t>
            </a:r>
            <a:r>
              <a:rPr dirty="0" sz="2000" spc="-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access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in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poor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regions.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08990" y="884999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910"/>
                </a:moveTo>
                <a:lnTo>
                  <a:pt x="0" y="45910"/>
                </a:lnTo>
                <a:lnTo>
                  <a:pt x="0" y="57340"/>
                </a:lnTo>
                <a:lnTo>
                  <a:pt x="10668000" y="57340"/>
                </a:lnTo>
                <a:lnTo>
                  <a:pt x="10668000" y="45910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53"/>
                </a:lnTo>
                <a:lnTo>
                  <a:pt x="10668000" y="34353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266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10"/>
              </a:spcBef>
            </a:pPr>
            <a:r>
              <a:rPr dirty="0"/>
              <a:t>Analysis</a:t>
            </a:r>
            <a:r>
              <a:rPr dirty="0" spc="-110"/>
              <a:t> </a:t>
            </a:r>
            <a:r>
              <a:rPr dirty="0"/>
              <a:t>of</a:t>
            </a:r>
            <a:r>
              <a:rPr dirty="0" spc="-140"/>
              <a:t> </a:t>
            </a:r>
            <a:r>
              <a:rPr dirty="0"/>
              <a:t>Problem</a:t>
            </a:r>
            <a:r>
              <a:rPr dirty="0" spc="-105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162989"/>
            <a:ext cx="5809615" cy="401764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52729" indent="-240029">
              <a:lnSpc>
                <a:spcPct val="100000"/>
              </a:lnSpc>
              <a:spcBef>
                <a:spcPts val="220"/>
              </a:spcBef>
              <a:buSzPct val="70000"/>
              <a:buFont typeface="Arial"/>
              <a:buAutoNum type="arabicPeriod"/>
              <a:tabLst>
                <a:tab pos="252729" algn="l"/>
              </a:tabLst>
            </a:pPr>
            <a:r>
              <a:rPr dirty="0" sz="2000" spc="-10" b="1">
                <a:latin typeface="Arial"/>
                <a:cs typeface="Arial"/>
              </a:rPr>
              <a:t>Background:</a:t>
            </a:r>
            <a:endParaRPr sz="2000">
              <a:latin typeface="Arial"/>
              <a:cs typeface="Arial"/>
            </a:endParaRPr>
          </a:p>
          <a:p>
            <a:pPr lvl="1" marL="241300" marR="142875" indent="-228600">
              <a:lnSpc>
                <a:spcPts val="2380"/>
              </a:lnSpc>
              <a:spcBef>
                <a:spcPts val="220"/>
              </a:spcBef>
              <a:buChar char="•"/>
              <a:tabLst>
                <a:tab pos="241300" algn="l"/>
              </a:tabLst>
            </a:pPr>
            <a:r>
              <a:rPr dirty="0" sz="2000" spc="-10">
                <a:latin typeface="Arial MT"/>
                <a:cs typeface="Arial MT"/>
              </a:rPr>
              <a:t>Drilling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wells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access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groundwater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expensive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1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risky.</a:t>
            </a:r>
            <a:endParaRPr sz="2000">
              <a:latin typeface="Arial MT"/>
              <a:cs typeface="Arial MT"/>
            </a:endParaRPr>
          </a:p>
          <a:p>
            <a:pPr lvl="1" marL="240665" indent="-227965">
              <a:lnSpc>
                <a:spcPts val="2225"/>
              </a:lnSpc>
              <a:buChar char="•"/>
              <a:tabLst>
                <a:tab pos="240665" algn="l"/>
              </a:tabLst>
            </a:pPr>
            <a:r>
              <a:rPr dirty="0" sz="2000" spc="-20">
                <a:latin typeface="Arial MT"/>
                <a:cs typeface="Arial MT"/>
              </a:rPr>
              <a:t>Traditional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methods(like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geological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surveys)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aren't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25"/>
              </a:spcBef>
            </a:pPr>
            <a:r>
              <a:rPr dirty="0" sz="2000" spc="-20">
                <a:latin typeface="Arial MT"/>
                <a:cs typeface="Arial MT"/>
              </a:rPr>
              <a:t>always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accurate.</a:t>
            </a:r>
            <a:endParaRPr sz="2000">
              <a:latin typeface="Arial MT"/>
              <a:cs typeface="Arial MT"/>
            </a:endParaRPr>
          </a:p>
          <a:p>
            <a:pPr lvl="1" marL="241300" marR="966469" indent="-228600">
              <a:lnSpc>
                <a:spcPts val="2350"/>
              </a:lnSpc>
              <a:spcBef>
                <a:spcPts val="215"/>
              </a:spcBef>
              <a:buChar char="•"/>
              <a:tabLst>
                <a:tab pos="241300" algn="l"/>
              </a:tabLst>
            </a:pPr>
            <a:r>
              <a:rPr dirty="0" sz="2000">
                <a:latin typeface="Arial MT"/>
                <a:cs typeface="Arial MT"/>
              </a:rPr>
              <a:t>Failed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wells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waste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money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resources, </a:t>
            </a:r>
            <a:r>
              <a:rPr dirty="0" sz="2000">
                <a:latin typeface="Arial MT"/>
                <a:cs typeface="Arial MT"/>
              </a:rPr>
              <a:t>especially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water-</a:t>
            </a:r>
            <a:r>
              <a:rPr dirty="0" sz="2000">
                <a:latin typeface="Arial MT"/>
                <a:cs typeface="Arial MT"/>
              </a:rPr>
              <a:t>scarce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regions.</a:t>
            </a:r>
            <a:endParaRPr sz="2000">
              <a:latin typeface="Arial MT"/>
              <a:cs typeface="Arial MT"/>
            </a:endParaRPr>
          </a:p>
          <a:p>
            <a:pPr marL="294640" indent="-281940">
              <a:lnSpc>
                <a:spcPts val="2250"/>
              </a:lnSpc>
              <a:buFont typeface="Arial"/>
              <a:buAutoNum type="arabicPeriod" startAt="2"/>
              <a:tabLst>
                <a:tab pos="294640" algn="l"/>
              </a:tabLst>
            </a:pP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Challenge:</a:t>
            </a:r>
            <a:endParaRPr sz="2000">
              <a:latin typeface="Arial"/>
              <a:cs typeface="Arial"/>
            </a:endParaRPr>
          </a:p>
          <a:p>
            <a:pPr lvl="1" marL="241300" marR="1099185" indent="-228600">
              <a:lnSpc>
                <a:spcPts val="2400"/>
              </a:lnSpc>
              <a:spcBef>
                <a:spcPts val="70"/>
              </a:spcBef>
              <a:buChar char="•"/>
              <a:tabLst>
                <a:tab pos="241300" algn="l"/>
                <a:tab pos="1463675" algn="l"/>
              </a:tabLst>
            </a:pPr>
            <a:r>
              <a:rPr dirty="0" sz="2000" spc="-10">
                <a:latin typeface="Arial MT"/>
                <a:cs typeface="Arial MT"/>
              </a:rPr>
              <a:t>Finding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i="1">
                <a:latin typeface="Arial"/>
                <a:cs typeface="Arial"/>
              </a:rPr>
              <a:t>right</a:t>
            </a:r>
            <a:r>
              <a:rPr dirty="0" sz="2000" spc="-30" i="1">
                <a:latin typeface="Arial"/>
                <a:cs typeface="Arial"/>
              </a:rPr>
              <a:t> </a:t>
            </a:r>
            <a:r>
              <a:rPr dirty="0" sz="2000" i="1">
                <a:latin typeface="Arial"/>
                <a:cs typeface="Arial"/>
              </a:rPr>
              <a:t>place</a:t>
            </a:r>
            <a:r>
              <a:rPr dirty="0" sz="2000" spc="-105" i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drill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 i="1">
                <a:latin typeface="Arial"/>
                <a:cs typeface="Arial"/>
              </a:rPr>
              <a:t>high </a:t>
            </a:r>
            <a:r>
              <a:rPr dirty="0" sz="2000" i="1">
                <a:latin typeface="Arial"/>
                <a:cs typeface="Arial"/>
              </a:rPr>
              <a:t>chance</a:t>
            </a:r>
            <a:r>
              <a:rPr dirty="0" sz="2000" spc="-135" i="1">
                <a:latin typeface="Arial"/>
                <a:cs typeface="Arial"/>
              </a:rPr>
              <a:t> </a:t>
            </a:r>
            <a:r>
              <a:rPr dirty="0" sz="2000" spc="-25">
                <a:latin typeface="Arial MT"/>
                <a:cs typeface="Arial MT"/>
              </a:rPr>
              <a:t>of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10">
                <a:latin typeface="Arial MT"/>
                <a:cs typeface="Arial MT"/>
              </a:rPr>
              <a:t>hitting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water.</a:t>
            </a:r>
            <a:endParaRPr sz="2000">
              <a:latin typeface="Arial MT"/>
              <a:cs typeface="Arial MT"/>
            </a:endParaRPr>
          </a:p>
          <a:p>
            <a:pPr lvl="1" marL="240665" indent="-227965">
              <a:lnSpc>
                <a:spcPts val="2390"/>
              </a:lnSpc>
              <a:spcBef>
                <a:spcPts val="45"/>
              </a:spcBef>
              <a:buChar char="•"/>
              <a:tabLst>
                <a:tab pos="240665" algn="l"/>
              </a:tabLst>
            </a:pPr>
            <a:r>
              <a:rPr dirty="0" sz="2000" spc="-10">
                <a:latin typeface="Arial MT"/>
                <a:cs typeface="Arial MT"/>
              </a:rPr>
              <a:t>Predicting</a:t>
            </a:r>
            <a:r>
              <a:rPr dirty="0" sz="2000" spc="-140">
                <a:latin typeface="Arial MT"/>
                <a:cs typeface="Arial MT"/>
              </a:rPr>
              <a:t> </a:t>
            </a:r>
            <a:r>
              <a:rPr dirty="0" sz="2000" i="1">
                <a:latin typeface="Arial"/>
                <a:cs typeface="Arial"/>
              </a:rPr>
              <a:t>depth</a:t>
            </a:r>
            <a:r>
              <a:rPr dirty="0" sz="2000" spc="-35" i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i="1">
                <a:latin typeface="Arial"/>
                <a:cs typeface="Arial"/>
              </a:rPr>
              <a:t>water</a:t>
            </a:r>
            <a:r>
              <a:rPr dirty="0" sz="2000" spc="375" i="1">
                <a:latin typeface="Arial"/>
                <a:cs typeface="Arial"/>
              </a:rPr>
              <a:t> </a:t>
            </a:r>
            <a:r>
              <a:rPr dirty="0" sz="2000" i="1">
                <a:latin typeface="Arial"/>
                <a:cs typeface="Arial"/>
              </a:rPr>
              <a:t>quality</a:t>
            </a:r>
            <a:r>
              <a:rPr dirty="0" sz="2000" spc="-5" i="1">
                <a:latin typeface="Arial"/>
                <a:cs typeface="Arial"/>
              </a:rPr>
              <a:t> </a:t>
            </a:r>
            <a:r>
              <a:rPr dirty="0" sz="2000" spc="-20">
                <a:latin typeface="Arial MT"/>
                <a:cs typeface="Arial MT"/>
              </a:rPr>
              <a:t>,and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 spc="-10" i="1">
                <a:latin typeface="Arial"/>
                <a:cs typeface="Arial"/>
              </a:rPr>
              <a:t>sustainability</a:t>
            </a:r>
            <a:endParaRPr sz="2000">
              <a:latin typeface="Arial"/>
              <a:cs typeface="Arial"/>
            </a:endParaRPr>
          </a:p>
          <a:p>
            <a:pPr marL="241300">
              <a:lnSpc>
                <a:spcPts val="2390"/>
              </a:lnSpc>
            </a:pP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source.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000" spc="-5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08990" y="885126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910"/>
                </a:moveTo>
                <a:lnTo>
                  <a:pt x="0" y="45910"/>
                </a:lnTo>
                <a:lnTo>
                  <a:pt x="0" y="57340"/>
                </a:lnTo>
                <a:lnTo>
                  <a:pt x="10668000" y="57340"/>
                </a:lnTo>
                <a:lnTo>
                  <a:pt x="10668000" y="45910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53"/>
                </a:lnTo>
                <a:lnTo>
                  <a:pt x="10668000" y="34353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Analysis</a:t>
            </a:r>
            <a:r>
              <a:rPr dirty="0" spc="-110"/>
              <a:t> </a:t>
            </a:r>
            <a:r>
              <a:rPr dirty="0"/>
              <a:t>of</a:t>
            </a:r>
            <a:r>
              <a:rPr dirty="0" spc="-140"/>
              <a:t> </a:t>
            </a:r>
            <a:r>
              <a:rPr dirty="0"/>
              <a:t>Problem</a:t>
            </a:r>
            <a:r>
              <a:rPr dirty="0" spc="-105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1115694"/>
            <a:ext cx="8329930" cy="31172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69265" indent="-380365">
              <a:lnSpc>
                <a:spcPct val="100000"/>
              </a:lnSpc>
              <a:spcBef>
                <a:spcPts val="90"/>
              </a:spcBef>
              <a:buSzPct val="120000"/>
              <a:buFont typeface="Arial MT"/>
              <a:buChar char="•"/>
              <a:tabLst>
                <a:tab pos="469265" algn="l"/>
              </a:tabLst>
            </a:pPr>
            <a:r>
              <a:rPr dirty="0" sz="2000" spc="-10" b="1">
                <a:latin typeface="Arial"/>
                <a:cs typeface="Arial"/>
              </a:rPr>
              <a:t>3.WhyAI?</a:t>
            </a:r>
            <a:endParaRPr sz="2000">
              <a:latin typeface="Arial"/>
              <a:cs typeface="Arial"/>
            </a:endParaRPr>
          </a:p>
          <a:p>
            <a:pPr marL="240029" marR="5080" indent="-227329">
              <a:lnSpc>
                <a:spcPct val="101000"/>
              </a:lnSpc>
              <a:spcBef>
                <a:spcPts val="145"/>
              </a:spcBef>
              <a:buSzPct val="120000"/>
              <a:buChar char="•"/>
              <a:tabLst>
                <a:tab pos="241300" algn="l"/>
              </a:tabLst>
            </a:pP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analyze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huge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datasets</a:t>
            </a:r>
            <a:r>
              <a:rPr dirty="0" sz="2000" spc="-120" b="1">
                <a:latin typeface="Arial"/>
                <a:cs typeface="Arial"/>
              </a:rPr>
              <a:t> </a:t>
            </a:r>
            <a:r>
              <a:rPr dirty="0" sz="2000" spc="-10">
                <a:latin typeface="Arial MT"/>
                <a:cs typeface="Arial MT"/>
              </a:rPr>
              <a:t>:soiltypes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satelliteimagery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rainfall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past </a:t>
            </a:r>
            <a:r>
              <a:rPr dirty="0" sz="2000" spc="-20"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drilling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,etc.</a:t>
            </a:r>
            <a:endParaRPr sz="2000">
              <a:latin typeface="Arial MT"/>
              <a:cs typeface="Arial MT"/>
            </a:endParaRPr>
          </a:p>
          <a:p>
            <a:pPr marL="240029" indent="-227329">
              <a:lnSpc>
                <a:spcPts val="2285"/>
              </a:lnSpc>
              <a:buSzPct val="120000"/>
              <a:buChar char="•"/>
              <a:tabLst>
                <a:tab pos="240029" algn="l"/>
              </a:tabLst>
            </a:pP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1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finds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spc="-10" b="1">
                <a:latin typeface="Arial"/>
                <a:cs typeface="Arial"/>
              </a:rPr>
              <a:t>patterns</a:t>
            </a:r>
            <a:r>
              <a:rPr dirty="0" sz="2000" spc="-110" b="1">
                <a:latin typeface="Arial"/>
                <a:cs typeface="Arial"/>
              </a:rPr>
              <a:t> </a:t>
            </a:r>
            <a:r>
              <a:rPr dirty="0" sz="2000" spc="-10">
                <a:latin typeface="Arial MT"/>
                <a:cs typeface="Arial MT"/>
              </a:rPr>
              <a:t>humans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might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miss.</a:t>
            </a:r>
            <a:endParaRPr sz="2000">
              <a:latin typeface="Arial MT"/>
              <a:cs typeface="Arial MT"/>
            </a:endParaRPr>
          </a:p>
          <a:p>
            <a:pPr marL="240029" indent="-227329">
              <a:lnSpc>
                <a:spcPts val="2375"/>
              </a:lnSpc>
              <a:buSzPct val="12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can</a:t>
            </a:r>
            <a:r>
              <a:rPr dirty="0" sz="2000" spc="-1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make</a:t>
            </a:r>
            <a:r>
              <a:rPr dirty="0" sz="2000" spc="-150">
                <a:latin typeface="Arial MT"/>
                <a:cs typeface="Arial MT"/>
              </a:rPr>
              <a:t> </a:t>
            </a:r>
            <a:r>
              <a:rPr dirty="0" sz="2000" spc="-10" b="1">
                <a:latin typeface="Arial"/>
                <a:cs typeface="Arial"/>
              </a:rPr>
              <a:t>location-</a:t>
            </a:r>
            <a:r>
              <a:rPr dirty="0" sz="2000" b="1">
                <a:latin typeface="Arial"/>
                <a:cs typeface="Arial"/>
              </a:rPr>
              <a:t>specific </a:t>
            </a:r>
            <a:r>
              <a:rPr dirty="0" sz="2000" spc="-10" b="1">
                <a:latin typeface="Arial"/>
                <a:cs typeface="Arial"/>
              </a:rPr>
              <a:t>predictions</a:t>
            </a:r>
            <a:r>
              <a:rPr dirty="0" sz="2000" spc="-114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faster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and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cheaper.</a:t>
            </a:r>
            <a:endParaRPr sz="2000">
              <a:latin typeface="Arial MT"/>
              <a:cs typeface="Arial MT"/>
            </a:endParaRPr>
          </a:p>
          <a:p>
            <a:pPr lvl="1" marL="469265" indent="-380365">
              <a:lnSpc>
                <a:spcPct val="100000"/>
              </a:lnSpc>
              <a:buSzPct val="120000"/>
              <a:buFont typeface="Arial MT"/>
              <a:buChar char="•"/>
              <a:tabLst>
                <a:tab pos="469265" algn="l"/>
              </a:tabLst>
            </a:pPr>
            <a:r>
              <a:rPr dirty="0" sz="2000" b="1">
                <a:latin typeface="Arial"/>
                <a:cs typeface="Arial"/>
              </a:rPr>
              <a:t>4.</a:t>
            </a:r>
            <a:r>
              <a:rPr dirty="0" sz="2000" spc="-1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Key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Goals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System:</a:t>
            </a:r>
            <a:endParaRPr sz="20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SzPct val="120000"/>
              <a:buChar char="•"/>
              <a:tabLst>
                <a:tab pos="240029" algn="l"/>
              </a:tabLst>
            </a:pPr>
            <a:r>
              <a:rPr dirty="0" sz="2000" spc="-10">
                <a:latin typeface="Arial MT"/>
                <a:cs typeface="Arial MT"/>
              </a:rPr>
              <a:t>Predict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the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best</a:t>
            </a:r>
            <a:r>
              <a:rPr dirty="0" sz="2000" spc="-1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drilling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locations</a:t>
            </a:r>
            <a:r>
              <a:rPr dirty="0" sz="2000" spc="-1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buSzPct val="120000"/>
              <a:buChar char="•"/>
              <a:tabLst>
                <a:tab pos="240029" algn="l"/>
              </a:tabLst>
            </a:pPr>
            <a:r>
              <a:rPr dirty="0" sz="2000" spc="-10">
                <a:latin typeface="Arial MT"/>
                <a:cs typeface="Arial MT"/>
              </a:rPr>
              <a:t>Estimate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the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 spc="-10" b="1">
                <a:latin typeface="Arial"/>
                <a:cs typeface="Arial"/>
              </a:rPr>
              <a:t>probability</a:t>
            </a:r>
            <a:r>
              <a:rPr dirty="0" sz="2000" spc="-1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success</a:t>
            </a:r>
            <a:r>
              <a:rPr dirty="0" sz="2000" spc="-10">
                <a:latin typeface="Arial MT"/>
                <a:cs typeface="Arial MT"/>
              </a:rPr>
              <a:t>(e.g.,water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yield,depth).</a:t>
            </a:r>
            <a:endParaRPr sz="20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50"/>
              </a:spcBef>
              <a:buSzPct val="120000"/>
              <a:buChar char="•"/>
              <a:tabLst>
                <a:tab pos="240029" algn="l"/>
              </a:tabLst>
            </a:pPr>
            <a:r>
              <a:rPr dirty="0" sz="2000" spc="-10">
                <a:latin typeface="Arial MT"/>
                <a:cs typeface="Arial MT"/>
              </a:rPr>
              <a:t>Reduce</a:t>
            </a:r>
            <a:r>
              <a:rPr dirty="0" sz="2000" spc="-12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costs</a:t>
            </a:r>
            <a:r>
              <a:rPr dirty="0" sz="2000" spc="-114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risks</a:t>
            </a:r>
            <a:r>
              <a:rPr dirty="0" sz="2000" spc="-1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SzPct val="120000"/>
              <a:buChar char="•"/>
              <a:tabLst>
                <a:tab pos="240029" algn="l"/>
              </a:tabLst>
            </a:pPr>
            <a:r>
              <a:rPr dirty="0" sz="2000" spc="-20">
                <a:latin typeface="Arial MT"/>
                <a:cs typeface="Arial MT"/>
              </a:rPr>
              <a:t>Help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governments</a:t>
            </a:r>
            <a:r>
              <a:rPr dirty="0" sz="2000" spc="-10" b="1">
                <a:latin typeface="Arial"/>
                <a:cs typeface="Arial"/>
              </a:rPr>
              <a:t> ,NGOs,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and</a:t>
            </a:r>
            <a:r>
              <a:rPr dirty="0" sz="2000" spc="-12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farmers</a:t>
            </a:r>
            <a:r>
              <a:rPr dirty="0" sz="2000" spc="-12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make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better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decisions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08990" y="885126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910"/>
                </a:moveTo>
                <a:lnTo>
                  <a:pt x="0" y="45910"/>
                </a:lnTo>
                <a:lnTo>
                  <a:pt x="0" y="57340"/>
                </a:lnTo>
                <a:lnTo>
                  <a:pt x="10668000" y="57340"/>
                </a:lnTo>
                <a:lnTo>
                  <a:pt x="10668000" y="45910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53"/>
                </a:lnTo>
                <a:lnTo>
                  <a:pt x="10668000" y="34353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" b="0">
                <a:latin typeface="Verdana"/>
                <a:cs typeface="Verdana"/>
              </a:rPr>
              <a:t>Innovation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algn="just" marL="390525" marR="723900" indent="-378460">
              <a:lnSpc>
                <a:spcPct val="94500"/>
              </a:lnSpc>
              <a:spcBef>
                <a:spcPts val="22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pc="-10" b="1">
                <a:latin typeface="Verdana"/>
                <a:cs typeface="Verdana"/>
              </a:rPr>
              <a:t>AI-</a:t>
            </a:r>
            <a:r>
              <a:rPr dirty="0" b="1">
                <a:latin typeface="Verdana"/>
                <a:cs typeface="Verdana"/>
              </a:rPr>
              <a:t>Based</a:t>
            </a:r>
            <a:r>
              <a:rPr dirty="0" spc="-140" b="1">
                <a:latin typeface="Verdana"/>
                <a:cs typeface="Verdana"/>
              </a:rPr>
              <a:t> </a:t>
            </a:r>
            <a:r>
              <a:rPr dirty="0" b="1">
                <a:latin typeface="Verdana"/>
                <a:cs typeface="Verdana"/>
              </a:rPr>
              <a:t>Prediction:</a:t>
            </a:r>
            <a:r>
              <a:rPr dirty="0" spc="-90" b="1">
                <a:latin typeface="Verdana"/>
                <a:cs typeface="Verdana"/>
              </a:rPr>
              <a:t> </a:t>
            </a:r>
            <a:r>
              <a:rPr dirty="0"/>
              <a:t>Uses</a:t>
            </a:r>
            <a:r>
              <a:rPr dirty="0" spc="-114"/>
              <a:t> </a:t>
            </a:r>
            <a:r>
              <a:rPr dirty="0"/>
              <a:t>machine</a:t>
            </a:r>
            <a:r>
              <a:rPr dirty="0" spc="-130"/>
              <a:t> </a:t>
            </a:r>
            <a:r>
              <a:rPr dirty="0"/>
              <a:t>learning</a:t>
            </a:r>
            <a:r>
              <a:rPr dirty="0" spc="-90"/>
              <a:t> </a:t>
            </a:r>
            <a:r>
              <a:rPr dirty="0"/>
              <a:t>to</a:t>
            </a:r>
            <a:r>
              <a:rPr dirty="0" spc="-175"/>
              <a:t> </a:t>
            </a:r>
            <a:r>
              <a:rPr dirty="0"/>
              <a:t>predict</a:t>
            </a:r>
            <a:r>
              <a:rPr dirty="0" spc="-105"/>
              <a:t> </a:t>
            </a:r>
            <a:r>
              <a:rPr dirty="0"/>
              <a:t>the</a:t>
            </a:r>
            <a:r>
              <a:rPr dirty="0" spc="-140"/>
              <a:t> </a:t>
            </a:r>
            <a:r>
              <a:rPr dirty="0" spc="-20"/>
              <a:t>best </a:t>
            </a:r>
            <a:r>
              <a:rPr dirty="0" spc="-20"/>
              <a:t>	</a:t>
            </a:r>
            <a:r>
              <a:rPr dirty="0"/>
              <a:t>locations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55"/>
              <a:t> </a:t>
            </a:r>
            <a:r>
              <a:rPr dirty="0"/>
              <a:t>water</a:t>
            </a:r>
            <a:r>
              <a:rPr dirty="0" spc="-100"/>
              <a:t> </a:t>
            </a:r>
            <a:r>
              <a:rPr dirty="0"/>
              <a:t>wells,</a:t>
            </a:r>
            <a:r>
              <a:rPr dirty="0" spc="-114"/>
              <a:t> </a:t>
            </a:r>
            <a:r>
              <a:rPr dirty="0"/>
              <a:t>unlike</a:t>
            </a:r>
            <a:r>
              <a:rPr dirty="0" spc="-120"/>
              <a:t> </a:t>
            </a:r>
            <a:r>
              <a:rPr dirty="0"/>
              <a:t>traditional</a:t>
            </a:r>
            <a:r>
              <a:rPr dirty="0" spc="-10"/>
              <a:t> </a:t>
            </a:r>
            <a:r>
              <a:rPr dirty="0"/>
              <a:t>guess</a:t>
            </a:r>
            <a:r>
              <a:rPr dirty="0" spc="-80"/>
              <a:t> </a:t>
            </a:r>
            <a:r>
              <a:rPr dirty="0"/>
              <a:t>work</a:t>
            </a:r>
            <a:r>
              <a:rPr dirty="0" spc="-70"/>
              <a:t> </a:t>
            </a:r>
            <a:r>
              <a:rPr dirty="0"/>
              <a:t>or</a:t>
            </a:r>
            <a:r>
              <a:rPr dirty="0" spc="-85"/>
              <a:t> </a:t>
            </a:r>
            <a:r>
              <a:rPr dirty="0" spc="-10"/>
              <a:t>manual 	surveys.</a:t>
            </a:r>
          </a:p>
          <a:p>
            <a:pPr algn="just" marL="390525" marR="643890" indent="-378460">
              <a:lnSpc>
                <a:spcPct val="102000"/>
              </a:lnSpc>
              <a:spcBef>
                <a:spcPts val="9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pc="-15" b="1">
                <a:latin typeface="Verdana"/>
                <a:cs typeface="Verdana"/>
              </a:rPr>
              <a:t>Data-Driven</a:t>
            </a:r>
            <a:r>
              <a:rPr dirty="0" spc="969" b="1">
                <a:latin typeface="Verdana"/>
                <a:cs typeface="Verdana"/>
              </a:rPr>
              <a:t> </a:t>
            </a:r>
            <a:r>
              <a:rPr dirty="0" spc="-15" b="1">
                <a:latin typeface="Verdana"/>
                <a:cs typeface="Verdana"/>
              </a:rPr>
              <a:t>Approach</a:t>
            </a:r>
            <a:r>
              <a:rPr dirty="0" spc="950" b="1">
                <a:latin typeface="Verdana"/>
                <a:cs typeface="Verdana"/>
              </a:rPr>
              <a:t> </a:t>
            </a:r>
            <a:r>
              <a:rPr dirty="0" spc="-10" b="1">
                <a:latin typeface="Verdana"/>
                <a:cs typeface="Verdana"/>
              </a:rPr>
              <a:t>:</a:t>
            </a:r>
            <a:r>
              <a:rPr dirty="0" spc="-10"/>
              <a:t>Combines</a:t>
            </a:r>
            <a:r>
              <a:rPr dirty="0" spc="665"/>
              <a:t> </a:t>
            </a:r>
            <a:r>
              <a:rPr dirty="0" spc="-5"/>
              <a:t>various</a:t>
            </a:r>
            <a:r>
              <a:rPr dirty="0" spc="685"/>
              <a:t> </a:t>
            </a:r>
            <a:r>
              <a:rPr dirty="0" spc="-10"/>
              <a:t>data</a:t>
            </a:r>
            <a:r>
              <a:rPr dirty="0" spc="695"/>
              <a:t> </a:t>
            </a:r>
            <a:r>
              <a:rPr dirty="0" spc="-10"/>
              <a:t>sources(soil </a:t>
            </a:r>
            <a:r>
              <a:rPr dirty="0" spc="-10"/>
              <a:t>	</a:t>
            </a:r>
            <a:r>
              <a:rPr dirty="0" spc="-15"/>
              <a:t>type,</a:t>
            </a:r>
            <a:r>
              <a:rPr dirty="0" spc="-85"/>
              <a:t> </a:t>
            </a:r>
            <a:r>
              <a:rPr dirty="0" spc="-10"/>
              <a:t>rainfall</a:t>
            </a:r>
            <a:r>
              <a:rPr dirty="0" spc="-125"/>
              <a:t> </a:t>
            </a:r>
            <a:r>
              <a:rPr dirty="0" spc="-10"/>
              <a:t>,</a:t>
            </a:r>
            <a:r>
              <a:rPr dirty="0" spc="-204"/>
              <a:t> </a:t>
            </a:r>
            <a:r>
              <a:rPr dirty="0" spc="-15"/>
              <a:t>elevation</a:t>
            </a:r>
            <a:r>
              <a:rPr dirty="0" spc="-130"/>
              <a:t> </a:t>
            </a:r>
            <a:r>
              <a:rPr dirty="0" spc="-15"/>
              <a:t>,past</a:t>
            </a:r>
            <a:r>
              <a:rPr dirty="0" spc="-170"/>
              <a:t> </a:t>
            </a:r>
            <a:r>
              <a:rPr dirty="0" spc="-10"/>
              <a:t>well</a:t>
            </a:r>
            <a:r>
              <a:rPr dirty="0" spc="-145"/>
              <a:t> </a:t>
            </a:r>
            <a:r>
              <a:rPr dirty="0" spc="-10"/>
              <a:t>data</a:t>
            </a:r>
            <a:r>
              <a:rPr dirty="0" spc="-100"/>
              <a:t> </a:t>
            </a:r>
            <a:r>
              <a:rPr dirty="0" spc="-10"/>
              <a:t>,satellite</a:t>
            </a:r>
            <a:r>
              <a:rPr dirty="0" spc="-150"/>
              <a:t> </a:t>
            </a:r>
            <a:r>
              <a:rPr dirty="0" spc="-10"/>
              <a:t>images)</a:t>
            </a:r>
            <a:r>
              <a:rPr dirty="0" spc="-165"/>
              <a:t> </a:t>
            </a:r>
            <a:r>
              <a:rPr dirty="0" spc="-10"/>
              <a:t>to</a:t>
            </a:r>
            <a:r>
              <a:rPr dirty="0" spc="-185"/>
              <a:t> </a:t>
            </a:r>
            <a:r>
              <a:rPr dirty="0" spc="-5"/>
              <a:t>makes</a:t>
            </a:r>
            <a:r>
              <a:rPr dirty="0"/>
              <a:t> </a:t>
            </a:r>
            <a:r>
              <a:rPr dirty="0"/>
              <a:t>	</a:t>
            </a:r>
            <a:r>
              <a:rPr dirty="0" spc="-15"/>
              <a:t>mart</a:t>
            </a:r>
            <a:r>
              <a:rPr dirty="0"/>
              <a:t> </a:t>
            </a:r>
            <a:r>
              <a:rPr dirty="0" spc="-15"/>
              <a:t>decisions.</a:t>
            </a:r>
          </a:p>
          <a:p>
            <a:pPr marL="393065" marR="1005840" indent="-381000">
              <a:lnSpc>
                <a:spcPct val="100000"/>
              </a:lnSpc>
              <a:spcBef>
                <a:spcPts val="675"/>
              </a:spcBef>
              <a:buSzPct val="120000"/>
              <a:buFont typeface="Arial MT"/>
              <a:buChar char="•"/>
              <a:tabLst>
                <a:tab pos="393065" algn="l"/>
                <a:tab pos="1658620" algn="l"/>
                <a:tab pos="3296285" algn="l"/>
              </a:tabLst>
            </a:pPr>
            <a:r>
              <a:rPr dirty="0" spc="-10" b="1">
                <a:latin typeface="Verdana"/>
                <a:cs typeface="Verdana"/>
              </a:rPr>
              <a:t>Reduces</a:t>
            </a:r>
            <a:r>
              <a:rPr dirty="0" spc="-135" b="1">
                <a:latin typeface="Verdana"/>
                <a:cs typeface="Verdana"/>
              </a:rPr>
              <a:t> </a:t>
            </a:r>
            <a:r>
              <a:rPr dirty="0" spc="-10" b="1">
                <a:latin typeface="Verdana"/>
                <a:cs typeface="Verdana"/>
              </a:rPr>
              <a:t>Failure</a:t>
            </a:r>
            <a:r>
              <a:rPr dirty="0" spc="-125" b="1">
                <a:latin typeface="Verdana"/>
                <a:cs typeface="Verdana"/>
              </a:rPr>
              <a:t> </a:t>
            </a:r>
            <a:r>
              <a:rPr dirty="0" b="1">
                <a:latin typeface="Verdana"/>
                <a:cs typeface="Verdana"/>
              </a:rPr>
              <a:t>Risk</a:t>
            </a:r>
            <a:r>
              <a:rPr dirty="0" spc="-15" b="1">
                <a:latin typeface="Verdana"/>
                <a:cs typeface="Verdana"/>
              </a:rPr>
              <a:t> </a:t>
            </a:r>
            <a:r>
              <a:rPr dirty="0" spc="-10" b="1">
                <a:latin typeface="Verdana"/>
                <a:cs typeface="Verdana"/>
              </a:rPr>
              <a:t>:</a:t>
            </a:r>
            <a:r>
              <a:rPr dirty="0" spc="-10"/>
              <a:t>Increases</a:t>
            </a:r>
            <a:r>
              <a:rPr dirty="0" spc="-145"/>
              <a:t> </a:t>
            </a:r>
            <a:r>
              <a:rPr dirty="0"/>
              <a:t>the</a:t>
            </a:r>
            <a:r>
              <a:rPr dirty="0" spc="-135"/>
              <a:t> </a:t>
            </a:r>
            <a:r>
              <a:rPr dirty="0"/>
              <a:t>chance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0"/>
              <a:t> </a:t>
            </a:r>
            <a:r>
              <a:rPr dirty="0"/>
              <a:t>finding</a:t>
            </a:r>
            <a:r>
              <a:rPr dirty="0" spc="-105"/>
              <a:t> </a:t>
            </a:r>
            <a:r>
              <a:rPr dirty="0" spc="-10"/>
              <a:t>water</a:t>
            </a:r>
            <a:r>
              <a:rPr dirty="0" spc="-135"/>
              <a:t> </a:t>
            </a:r>
            <a:r>
              <a:rPr dirty="0" spc="-50"/>
              <a:t>, </a:t>
            </a:r>
            <a:r>
              <a:rPr dirty="0" spc="-10"/>
              <a:t>reducing</a:t>
            </a:r>
            <a:r>
              <a:rPr dirty="0"/>
              <a:t>	the</a:t>
            </a:r>
            <a:r>
              <a:rPr dirty="0" spc="-110"/>
              <a:t> </a:t>
            </a:r>
            <a:r>
              <a:rPr dirty="0" spc="-10"/>
              <a:t>number</a:t>
            </a:r>
            <a:r>
              <a:rPr dirty="0"/>
              <a:t>	of</a:t>
            </a:r>
            <a:r>
              <a:rPr dirty="0" spc="-140"/>
              <a:t> </a:t>
            </a:r>
            <a:r>
              <a:rPr dirty="0"/>
              <a:t>failed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/>
              <a:t>costly</a:t>
            </a:r>
            <a:r>
              <a:rPr dirty="0" spc="-105"/>
              <a:t> </a:t>
            </a:r>
            <a:r>
              <a:rPr dirty="0"/>
              <a:t>drilling</a:t>
            </a:r>
            <a:r>
              <a:rPr dirty="0" spc="-45"/>
              <a:t> </a:t>
            </a:r>
            <a:r>
              <a:rPr dirty="0" spc="-10"/>
              <a:t>attempts.</a:t>
            </a:r>
          </a:p>
          <a:p>
            <a:pPr marL="393065" marR="5080" indent="-381000">
              <a:lnSpc>
                <a:spcPts val="2210"/>
              </a:lnSpc>
              <a:spcBef>
                <a:spcPts val="81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pc="-20" b="1">
                <a:latin typeface="Verdana"/>
                <a:cs typeface="Verdana"/>
              </a:rPr>
              <a:t>User-</a:t>
            </a:r>
            <a:r>
              <a:rPr dirty="0" b="1">
                <a:latin typeface="Verdana"/>
                <a:cs typeface="Verdana"/>
              </a:rPr>
              <a:t>Friendly</a:t>
            </a:r>
            <a:r>
              <a:rPr dirty="0" spc="-110" b="1">
                <a:latin typeface="Verdana"/>
                <a:cs typeface="Verdana"/>
              </a:rPr>
              <a:t> </a:t>
            </a:r>
            <a:r>
              <a:rPr dirty="0" b="1">
                <a:latin typeface="Verdana"/>
                <a:cs typeface="Verdana"/>
              </a:rPr>
              <a:t>Tool:</a:t>
            </a:r>
            <a:r>
              <a:rPr dirty="0" spc="-114" b="1">
                <a:latin typeface="Verdana"/>
                <a:cs typeface="Verdana"/>
              </a:rPr>
              <a:t> </a:t>
            </a:r>
            <a:r>
              <a:rPr dirty="0"/>
              <a:t>Can</a:t>
            </a:r>
            <a:r>
              <a:rPr dirty="0" spc="-25"/>
              <a:t> </a:t>
            </a:r>
            <a:r>
              <a:rPr dirty="0"/>
              <a:t>be</a:t>
            </a:r>
            <a:r>
              <a:rPr dirty="0" spc="-50"/>
              <a:t> </a:t>
            </a:r>
            <a:r>
              <a:rPr dirty="0"/>
              <a:t>built</a:t>
            </a:r>
            <a:r>
              <a:rPr dirty="0" spc="-95"/>
              <a:t> </a:t>
            </a:r>
            <a:r>
              <a:rPr dirty="0"/>
              <a:t>as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/>
              <a:t>mobile</a:t>
            </a:r>
            <a:r>
              <a:rPr dirty="0" spc="-45"/>
              <a:t> </a:t>
            </a:r>
            <a:r>
              <a:rPr dirty="0"/>
              <a:t>or</a:t>
            </a:r>
            <a:r>
              <a:rPr dirty="0" spc="-120"/>
              <a:t> </a:t>
            </a:r>
            <a:r>
              <a:rPr dirty="0"/>
              <a:t>web</a:t>
            </a:r>
            <a:r>
              <a:rPr dirty="0" spc="-30"/>
              <a:t> </a:t>
            </a:r>
            <a:r>
              <a:rPr dirty="0"/>
              <a:t>app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45"/>
              <a:t> </a:t>
            </a:r>
            <a:r>
              <a:rPr dirty="0"/>
              <a:t>easy</a:t>
            </a:r>
            <a:r>
              <a:rPr dirty="0" spc="-40"/>
              <a:t> </a:t>
            </a:r>
            <a:r>
              <a:rPr dirty="0" spc="-25"/>
              <a:t>use </a:t>
            </a:r>
            <a:r>
              <a:rPr dirty="0"/>
              <a:t>by</a:t>
            </a:r>
            <a:r>
              <a:rPr dirty="0" spc="-50"/>
              <a:t> </a:t>
            </a:r>
            <a:r>
              <a:rPr dirty="0"/>
              <a:t>field</a:t>
            </a:r>
            <a:r>
              <a:rPr dirty="0" spc="-40"/>
              <a:t> </a:t>
            </a:r>
            <a:r>
              <a:rPr dirty="0"/>
              <a:t>workers,</a:t>
            </a:r>
            <a:r>
              <a:rPr dirty="0" spc="-60"/>
              <a:t> </a:t>
            </a:r>
            <a:r>
              <a:rPr dirty="0"/>
              <a:t>farmers,</a:t>
            </a:r>
            <a:r>
              <a:rPr dirty="0" spc="-65"/>
              <a:t> </a:t>
            </a:r>
            <a:r>
              <a:rPr dirty="0"/>
              <a:t>NGOs,</a:t>
            </a:r>
            <a:r>
              <a:rPr dirty="0" spc="-40"/>
              <a:t> </a:t>
            </a:r>
            <a:r>
              <a:rPr dirty="0"/>
              <a:t>or</a:t>
            </a:r>
            <a:r>
              <a:rPr dirty="0" spc="-50"/>
              <a:t> </a:t>
            </a:r>
            <a:r>
              <a:rPr dirty="0"/>
              <a:t>local</a:t>
            </a:r>
            <a:r>
              <a:rPr dirty="0" spc="-20"/>
              <a:t> </a:t>
            </a:r>
            <a:r>
              <a:rPr dirty="0" spc="-10"/>
              <a:t>governments.</a:t>
            </a:r>
          </a:p>
          <a:p>
            <a:pPr marL="393065" marR="605790" indent="-381000">
              <a:lnSpc>
                <a:spcPts val="2380"/>
              </a:lnSpc>
              <a:spcBef>
                <a:spcPts val="415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pc="-10" b="1">
                <a:latin typeface="Verdana"/>
                <a:cs typeface="Verdana"/>
              </a:rPr>
              <a:t>Customizable</a:t>
            </a:r>
            <a:r>
              <a:rPr dirty="0" spc="-114" b="1">
                <a:latin typeface="Verdana"/>
                <a:cs typeface="Verdana"/>
              </a:rPr>
              <a:t> </a:t>
            </a:r>
            <a:r>
              <a:rPr dirty="0" b="1">
                <a:latin typeface="Verdana"/>
                <a:cs typeface="Verdana"/>
              </a:rPr>
              <a:t>to</a:t>
            </a:r>
            <a:r>
              <a:rPr dirty="0" spc="-95" b="1">
                <a:latin typeface="Verdana"/>
                <a:cs typeface="Verdana"/>
              </a:rPr>
              <a:t> </a:t>
            </a:r>
            <a:r>
              <a:rPr dirty="0" b="1">
                <a:latin typeface="Verdana"/>
                <a:cs typeface="Verdana"/>
              </a:rPr>
              <a:t>Any</a:t>
            </a:r>
            <a:r>
              <a:rPr dirty="0" spc="-100" b="1">
                <a:latin typeface="Verdana"/>
                <a:cs typeface="Verdana"/>
              </a:rPr>
              <a:t> </a:t>
            </a:r>
            <a:r>
              <a:rPr dirty="0" b="1">
                <a:latin typeface="Verdana"/>
                <a:cs typeface="Verdana"/>
              </a:rPr>
              <a:t>Region:</a:t>
            </a:r>
            <a:r>
              <a:rPr dirty="0" spc="-40" b="1">
                <a:latin typeface="Verdana"/>
                <a:cs typeface="Verdana"/>
              </a:rPr>
              <a:t> </a:t>
            </a:r>
            <a:r>
              <a:rPr dirty="0"/>
              <a:t>The</a:t>
            </a:r>
            <a:r>
              <a:rPr dirty="0" spc="-175"/>
              <a:t> </a:t>
            </a:r>
            <a:r>
              <a:rPr dirty="0"/>
              <a:t>system</a:t>
            </a:r>
            <a:r>
              <a:rPr dirty="0" spc="-105"/>
              <a:t> </a:t>
            </a:r>
            <a:r>
              <a:rPr dirty="0"/>
              <a:t>can</a:t>
            </a:r>
            <a:r>
              <a:rPr dirty="0" spc="-40"/>
              <a:t> </a:t>
            </a:r>
            <a:r>
              <a:rPr dirty="0"/>
              <a:t>adapt</a:t>
            </a:r>
            <a:r>
              <a:rPr dirty="0" spc="-130"/>
              <a:t> </a:t>
            </a:r>
            <a:r>
              <a:rPr dirty="0"/>
              <a:t>to</a:t>
            </a:r>
            <a:r>
              <a:rPr dirty="0" spc="-150"/>
              <a:t> </a:t>
            </a:r>
            <a:r>
              <a:rPr dirty="0" spc="-10"/>
              <a:t>different </a:t>
            </a:r>
            <a:r>
              <a:rPr dirty="0"/>
              <a:t>geographic</a:t>
            </a:r>
            <a:r>
              <a:rPr dirty="0" spc="-110"/>
              <a:t> </a:t>
            </a:r>
            <a:r>
              <a:rPr dirty="0"/>
              <a:t>areas</a:t>
            </a:r>
            <a:r>
              <a:rPr dirty="0" spc="-135"/>
              <a:t> </a:t>
            </a:r>
            <a:r>
              <a:rPr dirty="0"/>
              <a:t>by</a:t>
            </a:r>
            <a:r>
              <a:rPr dirty="0" spc="-120"/>
              <a:t> </a:t>
            </a:r>
            <a:r>
              <a:rPr dirty="0"/>
              <a:t>training</a:t>
            </a:r>
            <a:r>
              <a:rPr dirty="0" spc="-114"/>
              <a:t> </a:t>
            </a:r>
            <a:r>
              <a:rPr dirty="0"/>
              <a:t>it</a:t>
            </a:r>
            <a:r>
              <a:rPr dirty="0" spc="-110"/>
              <a:t> </a:t>
            </a:r>
            <a:r>
              <a:rPr dirty="0"/>
              <a:t>with</a:t>
            </a:r>
            <a:r>
              <a:rPr dirty="0" spc="-145"/>
              <a:t> </a:t>
            </a:r>
            <a:r>
              <a:rPr dirty="0"/>
              <a:t>local</a:t>
            </a:r>
            <a:r>
              <a:rPr dirty="0" spc="-80"/>
              <a:t> </a:t>
            </a:r>
            <a:r>
              <a:rPr dirty="0" spc="-10"/>
              <a:t>data.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808990" y="885494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783"/>
                </a:moveTo>
                <a:lnTo>
                  <a:pt x="0" y="45783"/>
                </a:lnTo>
                <a:lnTo>
                  <a:pt x="0" y="57226"/>
                </a:lnTo>
                <a:lnTo>
                  <a:pt x="10668000" y="57226"/>
                </a:lnTo>
                <a:lnTo>
                  <a:pt x="10668000" y="45783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66"/>
                </a:lnTo>
                <a:lnTo>
                  <a:pt x="10668000" y="34366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218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GithubLink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7036" y="1207135"/>
            <a:ext cx="825055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SzPct val="120000"/>
              <a:buChar char="•"/>
              <a:tabLst>
                <a:tab pos="393065" algn="l"/>
              </a:tabLst>
            </a:pPr>
            <a:r>
              <a:rPr dirty="0" u="sng" sz="20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https://github.com/VidyasagarM2004/ai-enabled-</a:t>
            </a:r>
            <a:r>
              <a:rPr dirty="0" u="sng" sz="20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water-</a:t>
            </a:r>
            <a:r>
              <a:rPr dirty="0" u="sng" sz="20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well-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predictor.git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77036" y="4412107"/>
            <a:ext cx="130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08990" y="885113"/>
            <a:ext cx="10668000" cy="57785"/>
          </a:xfrm>
          <a:custGeom>
            <a:avLst/>
            <a:gdLst/>
            <a:ahLst/>
            <a:cxnLst/>
            <a:rect l="l" t="t" r="r" b="b"/>
            <a:pathLst>
              <a:path w="10668000" h="57784">
                <a:moveTo>
                  <a:pt x="10668000" y="45783"/>
                </a:moveTo>
                <a:lnTo>
                  <a:pt x="0" y="45783"/>
                </a:lnTo>
                <a:lnTo>
                  <a:pt x="0" y="57226"/>
                </a:lnTo>
                <a:lnTo>
                  <a:pt x="10668000" y="57226"/>
                </a:lnTo>
                <a:lnTo>
                  <a:pt x="10668000" y="45783"/>
                </a:lnTo>
                <a:close/>
              </a:path>
              <a:path w="10668000" h="57784">
                <a:moveTo>
                  <a:pt x="10668000" y="0"/>
                </a:moveTo>
                <a:lnTo>
                  <a:pt x="0" y="0"/>
                </a:lnTo>
                <a:lnTo>
                  <a:pt x="0" y="34366"/>
                </a:lnTo>
                <a:lnTo>
                  <a:pt x="10668000" y="34366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3285" y="1902332"/>
            <a:ext cx="2493010" cy="22950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Timeline</a:t>
            </a:r>
            <a:r>
              <a:rPr dirty="0" spc="-105"/>
              <a:t> </a:t>
            </a:r>
            <a:r>
              <a:rPr dirty="0"/>
              <a:t>of</a:t>
            </a:r>
            <a:r>
              <a:rPr dirty="0" spc="-100"/>
              <a:t> </a:t>
            </a:r>
            <a:r>
              <a:rPr dirty="0"/>
              <a:t>the</a:t>
            </a:r>
            <a:r>
              <a:rPr dirty="0" spc="-110"/>
              <a:t> </a:t>
            </a:r>
            <a:r>
              <a:rPr dirty="0"/>
              <a:t>Project</a:t>
            </a:r>
            <a:r>
              <a:rPr dirty="0" spc="-110"/>
              <a:t> </a:t>
            </a:r>
            <a:r>
              <a:rPr dirty="0"/>
              <a:t>(Gantt</a:t>
            </a:r>
            <a:r>
              <a:rPr dirty="0" spc="-105"/>
              <a:t> </a:t>
            </a:r>
            <a:r>
              <a:rPr dirty="0" spc="-10"/>
              <a:t>Chart)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782" y="1499069"/>
            <a:ext cx="11020577" cy="395996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990588"/>
            <a:ext cx="12181078" cy="865505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808990" y="885064"/>
            <a:ext cx="10668000" cy="40005"/>
          </a:xfrm>
          <a:custGeom>
            <a:avLst/>
            <a:gdLst/>
            <a:ahLst/>
            <a:cxnLst/>
            <a:rect l="l" t="t" r="r" b="b"/>
            <a:pathLst>
              <a:path w="10668000" h="40005">
                <a:moveTo>
                  <a:pt x="10668000" y="0"/>
                </a:moveTo>
                <a:lnTo>
                  <a:pt x="0" y="0"/>
                </a:lnTo>
                <a:lnTo>
                  <a:pt x="0" y="39622"/>
                </a:lnTo>
                <a:lnTo>
                  <a:pt x="10668000" y="39622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860" y="273761"/>
            <a:ext cx="4843780" cy="4464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References(IEEEPaperformat)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1194943"/>
            <a:ext cx="9906635" cy="4839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5910" marR="503555" indent="-283845">
              <a:lnSpc>
                <a:spcPct val="100000"/>
              </a:lnSpc>
              <a:spcBef>
                <a:spcPts val="90"/>
              </a:spcBef>
              <a:buSzPct val="120000"/>
              <a:buFont typeface="Arial MT"/>
              <a:buChar char="•"/>
              <a:tabLst>
                <a:tab pos="295910" algn="l"/>
              </a:tabLst>
            </a:pPr>
            <a:r>
              <a:rPr dirty="0" sz="2000">
                <a:latin typeface="Verdana"/>
                <a:cs typeface="Verdana"/>
              </a:rPr>
              <a:t>P.Z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araf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shanetal.,“Artificial</a:t>
            </a:r>
            <a:r>
              <a:rPr dirty="0" sz="2000" spc="-8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Intelligence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Hybrid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Deep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Learning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Model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for </a:t>
            </a:r>
            <a:r>
              <a:rPr dirty="0" sz="2000">
                <a:latin typeface="Verdana"/>
                <a:cs typeface="Verdana"/>
              </a:rPr>
              <a:t>Ground</a:t>
            </a:r>
            <a:r>
              <a:rPr dirty="0" sz="2000" spc="-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water</a:t>
            </a:r>
            <a:r>
              <a:rPr dirty="0" sz="2000" spc="-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Level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Prediction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Using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MLP-</a:t>
            </a:r>
            <a:r>
              <a:rPr dirty="0" sz="2000">
                <a:latin typeface="Verdana"/>
                <a:cs typeface="Verdana"/>
              </a:rPr>
              <a:t>ADAM,”</a:t>
            </a:r>
            <a:r>
              <a:rPr dirty="0" sz="2000" i="1">
                <a:latin typeface="Verdana"/>
                <a:cs typeface="Verdana"/>
              </a:rPr>
              <a:t>ar</a:t>
            </a:r>
            <a:r>
              <a:rPr dirty="0" sz="2000" spc="-114" i="1">
                <a:latin typeface="Verdana"/>
                <a:cs typeface="Verdana"/>
              </a:rPr>
              <a:t> </a:t>
            </a:r>
            <a:r>
              <a:rPr dirty="0" sz="2000" i="1">
                <a:latin typeface="Verdana"/>
                <a:cs typeface="Verdana"/>
              </a:rPr>
              <a:t>Xiv</a:t>
            </a:r>
            <a:r>
              <a:rPr dirty="0" sz="2000" spc="-35" i="1">
                <a:latin typeface="Verdana"/>
                <a:cs typeface="Verdana"/>
              </a:rPr>
              <a:t> </a:t>
            </a:r>
            <a:r>
              <a:rPr dirty="0" sz="2000" i="1">
                <a:latin typeface="Verdana"/>
                <a:cs typeface="Verdana"/>
              </a:rPr>
              <a:t>preprint</a:t>
            </a:r>
            <a:r>
              <a:rPr dirty="0" sz="2000" spc="-45" i="1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, </a:t>
            </a:r>
            <a:r>
              <a:rPr dirty="0" sz="2000" spc="-10">
                <a:latin typeface="Verdana"/>
                <a:cs typeface="Verdana"/>
              </a:rPr>
              <a:t>Jul.292021.</a:t>
            </a:r>
            <a:endParaRPr sz="2000">
              <a:latin typeface="Verdana"/>
              <a:cs typeface="Verdana"/>
            </a:endParaRPr>
          </a:p>
          <a:p>
            <a:pPr marL="295910" marR="2306320" indent="-283845">
              <a:lnSpc>
                <a:spcPts val="2350"/>
              </a:lnSpc>
              <a:spcBef>
                <a:spcPts val="580"/>
              </a:spcBef>
              <a:buSzPct val="120000"/>
              <a:buFont typeface="Arial MT"/>
              <a:buChar char="•"/>
              <a:tabLst>
                <a:tab pos="299085" algn="l"/>
              </a:tabLst>
            </a:pPr>
            <a:r>
              <a:rPr dirty="0" sz="2000" spc="-10">
                <a:latin typeface="Verdana"/>
                <a:cs typeface="Verdana"/>
              </a:rPr>
              <a:t>M.L.Taccari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etal.,“Attention</a:t>
            </a:r>
            <a:r>
              <a:rPr dirty="0" sz="2000" spc="-1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U-</a:t>
            </a:r>
            <a:r>
              <a:rPr dirty="0" sz="2000" spc="-20">
                <a:latin typeface="Verdana"/>
                <a:cs typeface="Verdana"/>
              </a:rPr>
              <a:t>Netasas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urrogate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model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for </a:t>
            </a:r>
            <a:r>
              <a:rPr dirty="0" sz="2000" spc="-25">
                <a:latin typeface="Verdana"/>
                <a:cs typeface="Verdana"/>
              </a:rPr>
              <a:t>	</a:t>
            </a:r>
            <a:r>
              <a:rPr dirty="0" sz="2000">
                <a:latin typeface="Verdana"/>
                <a:cs typeface="Verdana"/>
              </a:rPr>
              <a:t>ground</a:t>
            </a:r>
            <a:r>
              <a:rPr dirty="0" sz="2000" spc="-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water</a:t>
            </a:r>
            <a:r>
              <a:rPr dirty="0" sz="2000" spc="-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prediction,”</a:t>
            </a:r>
            <a:r>
              <a:rPr dirty="0" sz="2000" i="1">
                <a:latin typeface="Verdana"/>
                <a:cs typeface="Verdana"/>
              </a:rPr>
              <a:t>ar</a:t>
            </a:r>
            <a:r>
              <a:rPr dirty="0" sz="2000" spc="-45" i="1">
                <a:latin typeface="Verdana"/>
                <a:cs typeface="Verdana"/>
              </a:rPr>
              <a:t> </a:t>
            </a:r>
            <a:r>
              <a:rPr dirty="0" sz="2000" spc="-10" i="1">
                <a:latin typeface="Verdana"/>
                <a:cs typeface="Verdana"/>
              </a:rPr>
              <a:t>Xivpreprint</a:t>
            </a:r>
            <a:r>
              <a:rPr dirty="0" sz="2000" spc="-10">
                <a:latin typeface="Verdana"/>
                <a:cs typeface="Verdana"/>
              </a:rPr>
              <a:t>,Apr.92022.</a:t>
            </a:r>
            <a:endParaRPr sz="2000">
              <a:latin typeface="Verdana"/>
              <a:cs typeface="Verdana"/>
            </a:endParaRPr>
          </a:p>
          <a:p>
            <a:pPr marL="295910" marR="5080" indent="-283845">
              <a:lnSpc>
                <a:spcPct val="97000"/>
              </a:lnSpc>
              <a:spcBef>
                <a:spcPts val="775"/>
              </a:spcBef>
              <a:buSzPct val="120000"/>
              <a:buFont typeface="Arial MT"/>
              <a:buChar char="•"/>
              <a:tabLst>
                <a:tab pos="299085" algn="l"/>
                <a:tab pos="5152390" algn="l"/>
              </a:tabLst>
            </a:pPr>
            <a:r>
              <a:rPr dirty="0" sz="2000">
                <a:latin typeface="Verdana"/>
                <a:cs typeface="Verdana"/>
              </a:rPr>
              <a:t>A.S.AliAli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etal.,“An</a:t>
            </a:r>
            <a:r>
              <a:rPr dirty="0" sz="2000" spc="-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Overview</a:t>
            </a:r>
            <a:r>
              <a:rPr dirty="0" sz="2000" spc="-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9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Deep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Learning</a:t>
            </a:r>
            <a:r>
              <a:rPr dirty="0" sz="2000" spc="-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Application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sin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Groundwater </a:t>
            </a:r>
            <a:r>
              <a:rPr dirty="0" sz="2000" spc="-10">
                <a:latin typeface="Verdana"/>
                <a:cs typeface="Verdana"/>
              </a:rPr>
              <a:t>	</a:t>
            </a:r>
            <a:r>
              <a:rPr dirty="0" sz="2000">
                <a:latin typeface="Verdana"/>
                <a:cs typeface="Verdana"/>
              </a:rPr>
              <a:t>Level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Modeling:</a:t>
            </a:r>
            <a:r>
              <a:rPr dirty="0" sz="2000" spc="-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Bridging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the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Gap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between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Academic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Research</a:t>
            </a:r>
            <a:r>
              <a:rPr dirty="0" sz="2000" spc="-1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and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Industry </a:t>
            </a:r>
            <a:r>
              <a:rPr dirty="0" sz="2000" spc="-10">
                <a:latin typeface="Verdana"/>
                <a:cs typeface="Verdana"/>
              </a:rPr>
              <a:t>	</a:t>
            </a:r>
            <a:r>
              <a:rPr dirty="0" sz="2000">
                <a:latin typeface="Verdana"/>
                <a:cs typeface="Verdana"/>
              </a:rPr>
              <a:t>Applications,”</a:t>
            </a:r>
            <a:r>
              <a:rPr dirty="0" sz="2000" spc="-90">
                <a:latin typeface="Verdana"/>
                <a:cs typeface="Verdana"/>
              </a:rPr>
              <a:t> </a:t>
            </a:r>
            <a:r>
              <a:rPr dirty="0" sz="2000" i="1">
                <a:latin typeface="Verdana"/>
                <a:cs typeface="Verdana"/>
              </a:rPr>
              <a:t>Applied</a:t>
            </a:r>
            <a:r>
              <a:rPr dirty="0" sz="2000" spc="-90" i="1">
                <a:latin typeface="Verdana"/>
                <a:cs typeface="Verdana"/>
              </a:rPr>
              <a:t> </a:t>
            </a:r>
            <a:r>
              <a:rPr dirty="0" sz="2000" spc="-10" i="1">
                <a:latin typeface="Verdana"/>
                <a:cs typeface="Verdana"/>
              </a:rPr>
              <a:t>Computational</a:t>
            </a:r>
            <a:r>
              <a:rPr dirty="0" sz="2000" i="1">
                <a:latin typeface="Verdana"/>
                <a:cs typeface="Verdana"/>
              </a:rPr>
              <a:t>	Intelligence</a:t>
            </a:r>
            <a:r>
              <a:rPr dirty="0" sz="2000" spc="-120" i="1">
                <a:latin typeface="Verdana"/>
                <a:cs typeface="Verdana"/>
              </a:rPr>
              <a:t> </a:t>
            </a:r>
            <a:r>
              <a:rPr dirty="0" sz="2000" i="1">
                <a:latin typeface="Verdana"/>
                <a:cs typeface="Verdana"/>
              </a:rPr>
              <a:t>and</a:t>
            </a:r>
            <a:r>
              <a:rPr dirty="0" sz="2000" spc="-55" i="1">
                <a:latin typeface="Verdana"/>
                <a:cs typeface="Verdana"/>
              </a:rPr>
              <a:t> </a:t>
            </a:r>
            <a:r>
              <a:rPr dirty="0" sz="2000" i="1">
                <a:latin typeface="Verdana"/>
                <a:cs typeface="Verdana"/>
              </a:rPr>
              <a:t>Soft</a:t>
            </a:r>
            <a:r>
              <a:rPr dirty="0" sz="2000" spc="-70" i="1">
                <a:latin typeface="Verdana"/>
                <a:cs typeface="Verdana"/>
              </a:rPr>
              <a:t> </a:t>
            </a:r>
            <a:r>
              <a:rPr dirty="0" sz="2000" spc="-10" i="1">
                <a:latin typeface="Verdana"/>
                <a:cs typeface="Verdana"/>
              </a:rPr>
              <a:t>Computing</a:t>
            </a:r>
            <a:r>
              <a:rPr dirty="0" sz="2000" spc="-10">
                <a:latin typeface="Verdana"/>
                <a:cs typeface="Verdana"/>
              </a:rPr>
              <a:t>, 	vol.2024,Art.ID9480522,Aug.14</a:t>
            </a:r>
            <a:r>
              <a:rPr dirty="0" sz="2000" spc="3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2024.</a:t>
            </a:r>
            <a:endParaRPr sz="2000">
              <a:latin typeface="Verdana"/>
              <a:cs typeface="Verdana"/>
            </a:endParaRPr>
          </a:p>
          <a:p>
            <a:pPr algn="just" marL="290830" marR="56515" indent="-278765">
              <a:lnSpc>
                <a:spcPct val="97500"/>
              </a:lnSpc>
              <a:spcBef>
                <a:spcPts val="615"/>
              </a:spcBef>
              <a:buSzPct val="120000"/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Verdana"/>
                <a:cs typeface="Verdana"/>
              </a:rPr>
              <a:t>A.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Najafabadipouretal.,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“Application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Artificial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Intelligence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Techniques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for </a:t>
            </a:r>
            <a:r>
              <a:rPr dirty="0" sz="2000" spc="-25">
                <a:latin typeface="Verdana"/>
                <a:cs typeface="Verdana"/>
              </a:rPr>
              <a:t>	</a:t>
            </a:r>
            <a:r>
              <a:rPr dirty="0" sz="2000">
                <a:latin typeface="Verdana"/>
                <a:cs typeface="Verdana"/>
              </a:rPr>
              <a:t>the</a:t>
            </a:r>
            <a:r>
              <a:rPr dirty="0" sz="2000" spc="-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Determination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Groundwater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Level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UsingSpatio-</a:t>
            </a:r>
            <a:r>
              <a:rPr dirty="0" sz="2000">
                <a:latin typeface="Verdana"/>
                <a:cs typeface="Verdana"/>
              </a:rPr>
              <a:t>Temporal</a:t>
            </a:r>
            <a:r>
              <a:rPr dirty="0" sz="2000" spc="-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Parameters </a:t>
            </a:r>
            <a:r>
              <a:rPr dirty="0" sz="2000" spc="-10">
                <a:latin typeface="Verdana"/>
                <a:cs typeface="Verdana"/>
              </a:rPr>
              <a:t>	</a:t>
            </a:r>
            <a:r>
              <a:rPr dirty="0" sz="2000" i="1">
                <a:latin typeface="Verdana"/>
                <a:cs typeface="Verdana"/>
              </a:rPr>
              <a:t>ACS</a:t>
            </a:r>
            <a:r>
              <a:rPr dirty="0" sz="2000" spc="-60" i="1">
                <a:latin typeface="Verdana"/>
                <a:cs typeface="Verdana"/>
              </a:rPr>
              <a:t> </a:t>
            </a:r>
            <a:r>
              <a:rPr dirty="0" sz="2000" i="1">
                <a:latin typeface="Verdana"/>
                <a:cs typeface="Verdana"/>
              </a:rPr>
              <a:t>Omega</a:t>
            </a:r>
            <a:r>
              <a:rPr dirty="0" sz="2000">
                <a:latin typeface="Verdana"/>
                <a:cs typeface="Verdana"/>
              </a:rPr>
              <a:t>,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vol.7,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no.12,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pp.10751–10764,</a:t>
            </a:r>
            <a:r>
              <a:rPr dirty="0" sz="2000" spc="-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Mar.212022.</a:t>
            </a:r>
            <a:endParaRPr sz="2000">
              <a:latin typeface="Verdana"/>
              <a:cs typeface="Verdana"/>
            </a:endParaRPr>
          </a:p>
          <a:p>
            <a:pPr algn="just" marL="294005" marR="287655" indent="-281940">
              <a:lnSpc>
                <a:spcPct val="96100"/>
              </a:lnSpc>
              <a:spcBef>
                <a:spcPts val="790"/>
              </a:spcBef>
              <a:buSzPct val="120000"/>
              <a:buFont typeface="Arial MT"/>
              <a:buChar char="•"/>
              <a:tabLst>
                <a:tab pos="299085" algn="l"/>
              </a:tabLst>
            </a:pPr>
            <a:r>
              <a:rPr dirty="0" sz="2000" spc="-10">
                <a:latin typeface="Verdana"/>
                <a:cs typeface="Verdana"/>
              </a:rPr>
              <a:t>A.Khedrietal.,“Comparison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study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artificial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intelligence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method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short </a:t>
            </a:r>
            <a:r>
              <a:rPr dirty="0" sz="2000" spc="-10">
                <a:latin typeface="Verdana"/>
                <a:cs typeface="Verdana"/>
              </a:rPr>
              <a:t>	</a:t>
            </a:r>
            <a:r>
              <a:rPr dirty="0" sz="2000">
                <a:latin typeface="Verdana"/>
                <a:cs typeface="Verdana"/>
              </a:rPr>
              <a:t>term</a:t>
            </a:r>
            <a:r>
              <a:rPr dirty="0" sz="2000" spc="-7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groundwater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level</a:t>
            </a:r>
            <a:r>
              <a:rPr dirty="0" sz="2000" spc="-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prediction</a:t>
            </a:r>
            <a:r>
              <a:rPr dirty="0" sz="2000" spc="-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in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the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northeast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Gachsaran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unconfined </a:t>
            </a:r>
            <a:r>
              <a:rPr dirty="0" sz="2000" spc="-10">
                <a:latin typeface="Verdana"/>
                <a:cs typeface="Verdana"/>
              </a:rPr>
              <a:t>	</a:t>
            </a:r>
            <a:r>
              <a:rPr dirty="0" sz="2000">
                <a:latin typeface="Verdana"/>
                <a:cs typeface="Verdana"/>
              </a:rPr>
              <a:t>aquifer,”</a:t>
            </a:r>
            <a:r>
              <a:rPr dirty="0" sz="2000" spc="-70">
                <a:latin typeface="Verdana"/>
                <a:cs typeface="Verdana"/>
              </a:rPr>
              <a:t> </a:t>
            </a:r>
            <a:r>
              <a:rPr dirty="0" sz="2000" i="1">
                <a:latin typeface="Verdana"/>
                <a:cs typeface="Verdana"/>
              </a:rPr>
              <a:t>Water</a:t>
            </a:r>
            <a:r>
              <a:rPr dirty="0" sz="2000" spc="-50" i="1">
                <a:latin typeface="Verdana"/>
                <a:cs typeface="Verdana"/>
              </a:rPr>
              <a:t> </a:t>
            </a:r>
            <a:r>
              <a:rPr dirty="0" sz="2000" i="1">
                <a:latin typeface="Verdana"/>
                <a:cs typeface="Verdana"/>
              </a:rPr>
              <a:t>Supply</a:t>
            </a:r>
            <a:r>
              <a:rPr dirty="0" sz="2000">
                <a:latin typeface="Verdana"/>
                <a:cs typeface="Verdana"/>
              </a:rPr>
              <a:t>,</a:t>
            </a:r>
            <a:r>
              <a:rPr dirty="0" sz="2000" spc="-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vol.20,</a:t>
            </a:r>
            <a:r>
              <a:rPr dirty="0" sz="2000" spc="-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no.3,</a:t>
            </a:r>
            <a:r>
              <a:rPr dirty="0" sz="2000" spc="-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pp.909–921,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May2020.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08990" y="885064"/>
            <a:ext cx="10668000" cy="40005"/>
          </a:xfrm>
          <a:custGeom>
            <a:avLst/>
            <a:gdLst/>
            <a:ahLst/>
            <a:cxnLst/>
            <a:rect l="l" t="t" r="r" b="b"/>
            <a:pathLst>
              <a:path w="10668000" h="40005">
                <a:moveTo>
                  <a:pt x="10668000" y="0"/>
                </a:moveTo>
                <a:lnTo>
                  <a:pt x="0" y="0"/>
                </a:lnTo>
                <a:lnTo>
                  <a:pt x="0" y="39622"/>
                </a:lnTo>
                <a:lnTo>
                  <a:pt x="10668000" y="39622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8990" y="875245"/>
            <a:ext cx="10668000" cy="56515"/>
          </a:xfrm>
          <a:custGeom>
            <a:avLst/>
            <a:gdLst/>
            <a:ahLst/>
            <a:cxnLst/>
            <a:rect l="l" t="t" r="r" b="b"/>
            <a:pathLst>
              <a:path w="10668000" h="56515">
                <a:moveTo>
                  <a:pt x="10668000" y="45161"/>
                </a:moveTo>
                <a:lnTo>
                  <a:pt x="0" y="45161"/>
                </a:lnTo>
                <a:lnTo>
                  <a:pt x="0" y="56426"/>
                </a:lnTo>
                <a:lnTo>
                  <a:pt x="10668000" y="56426"/>
                </a:lnTo>
                <a:lnTo>
                  <a:pt x="10668000" y="45161"/>
                </a:lnTo>
                <a:close/>
              </a:path>
              <a:path w="10668000" h="56515">
                <a:moveTo>
                  <a:pt x="10668000" y="0"/>
                </a:moveTo>
                <a:lnTo>
                  <a:pt x="0" y="0"/>
                </a:lnTo>
                <a:lnTo>
                  <a:pt x="0" y="33820"/>
                </a:lnTo>
                <a:lnTo>
                  <a:pt x="10668000" y="3382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1078" cy="86550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5590" y="1436497"/>
            <a:ext cx="3872865" cy="39201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Vennapusa Dinesh Reddy</dc:creator>
  <dcterms:created xsi:type="dcterms:W3CDTF">2025-09-12T15:50:26Z</dcterms:created>
  <dcterms:modified xsi:type="dcterms:W3CDTF">2025-09-12T15:50:26Z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2025-09-12T00:00:00Z</vt:filetime>
  </property>
  <property fmtid="{D5CDD505-2E9C-101B-9397-08002B2CF9AE}" pid="5" name="Producer">
    <vt:lpwstr>www.ilovepdf.com</vt:lpwstr>
  </property>
</Properties>
</file>